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Сразу задаём рамку: мы продаём время в зале, а книги и кофе - это то, что человек берёт за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Объясняем, почему привычная модель книжного в ТЦ буксует и что мы меняем в её основе.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сценария закрывают разные часы дня, поэтому точка не простаивает между пиками ТЦ.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Портрет собран по опросам в книжных сетях и данным о посетителях сопоставимых ТЦ.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Расчёт от проходимости этажа: мы берём консервативные 4 процента захода при среднем показателе якорной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цифра здесь - доля смешанных чеков: именно она отличает нас от кофейни и от книжного по отдельности.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Кофе даёт маржу и кэшфлоу, книги дают трафик и средний чек - модель держится на связке.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не претендуем на первую линию: нам важнее поток людей с запасом времени, а не с сумками.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арендодателя мы не просто арендатор, а инструмент удержания трафика в слабые часы.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Партнёрская выручка снижает нашу зависимость от аренды и делает модель устойчивее.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Сроки привязаны к предновогоднему пику продаж книг и подарков - это наш лучший старт.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Заканчиваем конкретным шагом: предлагаем назначить просмотр помещения на ближайшие две недели.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3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aurora-C98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2148840"/>
            <a:ext cx="1371600" cy="762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>
            <a:glow rad="177800">
              <a:srgbClr val="C98A4B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</a:pPr>
            <a:r>
              <a:rPr sz="4600" b="1">
                <a:solidFill>
                  <a:srgbClr val="F6EFE7"/>
                </a:solidFill>
              </a:rPr>
              <a:t>Полка: книжный магазин-кофейня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2000" b="0">
                <a:solidFill>
                  <a:srgbClr val="B7A493"/>
                </a:solidFill>
              </a:rPr>
              <a:t>Концепция и экономика точки в торговом центре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3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sh-C98A4B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>
            <a:glow rad="127000">
              <a:srgbClr val="C98A4B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6EFE7"/>
                </a:solidFill>
              </a:rPr>
              <a:t>Книжный, в котором задерживаются на 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Магазин книг и кофейня в одном зале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Покупка книги не обязательна для входа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Посадка на 24 места, средний визит 45 минут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Формат работает на возврат, а не на проходимость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3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id-C98A4B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>
            <a:glow rad="127000">
              <a:srgbClr val="C98A4B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6EFE7"/>
                </a:solidFill>
              </a:rPr>
              <a:t>Обычный книжный теряет посетителя за 6 минут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Классический формат живёт с полки и кассы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Нет причины остаться и вернуться завтра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Онлайн выигрывает по цене и ассортименту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Мы конкурируем сценарием, а не скидкой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3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sh-C98A4B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>
            <a:glow rad="127000">
              <a:srgbClr val="C98A4B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6EFE7"/>
                </a:solidFill>
              </a:rPr>
              <a:t>Три причины прийти вместо одной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Кофе и завтрак - ежедневный повод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Книги и подарки - импульсная и плановая покупка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Встречи и работа с ноутбуком - будни днём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Клубы и встречи с авторами - вечера и выходные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3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id-C98A4B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>
            <a:glow rad="127000">
              <a:srgbClr val="C98A4B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6EFE7"/>
                </a:solidFill>
              </a:rPr>
              <a:t>Ядро аудитории: 25-40 лет, доход выше среднего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62 процента - женщины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Покупают книги 1-2 раза в месяц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Приходят в ТЦ по будням днём и в выходные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Живут или работают в радиусе 15 минут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3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aves-C98A4B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>
            <a:glow rad="127000">
              <a:srgbClr val="C98A4B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6EFE7"/>
                </a:solidFill>
              </a:rPr>
              <a:t>Трафик точки: 320 человек в день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C98A4B"/>
                </a:solidFill>
              </a:rPr>
              <a:t>9600 посетителей в месяц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C98A4B"/>
                </a:solidFill>
              </a:rPr>
              <a:t>Конверсия в чек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619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B7A493"/>
                </a:solidFill>
              </a:rPr>
              <a:t>38 процентов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C98A4B"/>
                </a:solidFill>
              </a:rPr>
              <a:t>3650 чеков в месяц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C98A4B"/>
                </a:solidFill>
              </a:rPr>
              <a:t>Доля повторных гостей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401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B7A493"/>
                </a:solidFill>
              </a:rPr>
              <a:t>41 процент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3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ings-C98A4B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>
            <a:glow rad="127000">
              <a:srgbClr val="C98A4B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6EFE7"/>
                </a:solidFill>
              </a:rPr>
              <a:t>Средний чек 640 рублей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C98A4B"/>
                </a:solidFill>
              </a:rPr>
              <a:t>Только кофе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B7A493"/>
                </a:solidFill>
              </a:rPr>
              <a:t>280 рублей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C98A4B"/>
                </a:solidFill>
              </a:rPr>
              <a:t>Кофе плюс книга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619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B7A493"/>
                </a:solidFill>
              </a:rPr>
              <a:t>1150 рублей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C98A4B"/>
                </a:solidFill>
              </a:rPr>
              <a:t>Смешанный чек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510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B7A493"/>
                </a:solidFill>
              </a:rPr>
              <a:t>47 процентов покупок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C98A4B"/>
                </a:solidFill>
              </a:rPr>
              <a:t>Выручка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2401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B7A493"/>
                </a:solidFill>
              </a:rPr>
              <a:t>2,3 млн рублей в месяц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3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sh-C98A4B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>
            <a:glow rad="127000">
              <a:srgbClr val="C98A4B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6EFE7"/>
                </a:solidFill>
              </a:rPr>
              <a:t>Экономика точки: выход в плюс на 8 месяце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C98A4B"/>
                </a:solidFill>
              </a:rPr>
              <a:t>Инвестиции в 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B7A493"/>
                </a:solidFill>
              </a:rPr>
              <a:t>6,4 млн рублей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C98A4B"/>
                </a:solidFill>
              </a:rPr>
              <a:t>Операционные расходы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619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B7A493"/>
                </a:solidFill>
              </a:rPr>
              <a:t>1,7 млн в месяц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C98A4B"/>
                </a:solidFill>
              </a:rPr>
              <a:t>Маржинальность кофе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510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B7A493"/>
                </a:solidFill>
              </a:rPr>
              <a:t>72 процента, книг - 34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304800" dist="1016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C98A4B"/>
                </a:solidFill>
              </a:rPr>
              <a:t>Окупаемость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2401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B7A493"/>
                </a:solidFill>
              </a:rPr>
              <a:t>22 месяца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3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ings-C98A4B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>
            <a:glow rad="127000">
              <a:srgbClr val="C98A4B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6EFE7"/>
                </a:solidFill>
              </a:rPr>
              <a:t>Что нужно от площадки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120-160 квадратных метров, второй или третий этаж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Витрина и подвод воды и канализации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Соседство с кинотеатром или фудкортом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Аренда - не выше 12 процентов выручки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3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rs-C98A4B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>
            <a:glow rad="127000">
              <a:srgbClr val="C98A4B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6EFE7"/>
                </a:solidFill>
              </a:rPr>
              <a:t>Мы удерживаем посетителя на этаже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Средний визит 45 минут против 6 у книжного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Гость возвращается 2,4 раза в месяц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Мероприятия приводят 150-200 человек за вечер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Работаем в дневные часы, когда ТЦ пустой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3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sh-C98A4B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>
            <a:glow rad="127000">
              <a:srgbClr val="C98A4B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6EFE7"/>
                </a:solidFill>
              </a:rPr>
              <a:t>Партнёрам: издательства, обжарщики, бренды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Издательствам - площадка для презентаций и продаж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Обжарщикам - витрина и стабильный объём закупки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Брендам - тематические полки и коллаборации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Прозрачная отчётность по продажам каждый месяц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3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rora-C98A4B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>
            <a:glow rad="127000">
              <a:srgbClr val="C98A4B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6EFE7"/>
                </a:solidFill>
              </a:rPr>
              <a:t>Первая точка - осень, вторая - через год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Сентябрь - подписание и начало ремонта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Декабрь - открытие к высокому сезону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Полгода - выход на плановые показатели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Через год - вторая точка в сети ТЦ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3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aves-C98A4B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>
            <a:glow rad="127000">
              <a:srgbClr val="C98A4B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6EFE7"/>
                </a:solidFill>
              </a:rPr>
              <a:t>О чём договариваемся сейчас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2148840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0370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Просмотр помещения и замеры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3191256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Арендные каникулы на период ремонта - 3 месяца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" y="4233672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885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Пилот на 12 месяцев с опцией продления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1A15"/>
              </a:gs>
              <a:gs pos="100000">
                <a:srgbClr val="31241C"/>
              </a:gs>
            </a:gsLst>
            <a:lin scaled="0" ang="18900000"/>
          </a:gradFill>
          <a:ln>
            <a:noFill/>
          </a:ln>
          <a:effectLst>
            <a:outerShdw blurRad="228600" dist="762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5276088"/>
            <a:ext cx="50800" cy="4754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C98A4B"/>
              </a:gs>
              <a:gs pos="100000">
                <a:srgbClr val="8C5A2B"/>
              </a:gs>
            </a:gsLst>
            <a:lin scaled="0" ang="19800000"/>
          </a:gradFill>
          <a:ln>
            <a:noFill/>
          </a:ln>
          <a:effectLst>
            <a:glow rad="88900">
              <a:srgbClr val="C98A4B">
                <a:alpha val="3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309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310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6EFE7"/>
                </a:solidFill>
              </a:rPr>
              <a:t>Встреча с партнёрами по ассортименту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fill="hold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fill="hold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fill="hold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fill="hold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