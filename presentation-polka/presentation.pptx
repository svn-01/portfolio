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Сразу задаём рамку: мы продаём время в зале, а книги и кофе - это то, что человек берёт за это время.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Объясняем, почему привычная модель книжного в ТЦ буксует и что мы меняем в её основе.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Четыре сценария закрывают разные часы дня, поэтому точка не простаивает между пиками ТЦ.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Портрет собран по опросам в книжных сетях и данным о посетителях сопоставимых ТЦ.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Расчёт от проходимости этажа: мы берём консервативные 4 процента захода при среднем показателе якорной зоны.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Главная цифра здесь - доля смешанных чеков: именно она отличает нас от кофейни и от книжного по отдельности.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Кофе даёт маржу и кэшфлоу, книги дают трафик и средний чек - модель держится на связке.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не претендуем на первую линию: нам важнее поток людей с запасом времени, а не с сумками.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Для арендодателя мы не просто арендатор, а инструмент удержания трафика в слабые часы.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Партнёрская выручка снижает нашу зависимость от аренды и делает модель устойчивее.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Сроки привязаны к предновогоднему пику продаж книг и подарков - это наш лучший старт.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Заканчиваем конкретным шагом: предлагаем назначить просмотр помещения на ближайшие две недели.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822960" y="2148840"/>
            <a:ext cx="1371600" cy="7620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8046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</a:pPr>
            <a:r>
              <a:rPr sz="4600" b="1">
                <a:solidFill>
                  <a:srgbClr val="F2F4F8"/>
                </a:solidFill>
              </a:rPr>
              <a:t>Полка: книжный магазин-кофейня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48056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2000" b="0">
                <a:solidFill>
                  <a:srgbClr val="9AA4B2"/>
                </a:solidFill>
              </a:rPr>
              <a:t>Концепция и экономика точки в торговом центре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600">
        <p:fade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ings.png"/>
          <p:cNvPicPr>
            <a:picLocks noChangeAspect="1"/>
          </p:cNvPicPr>
          <p:nvPr/>
        </p:nvPicPr>
        <p:blipFill>
          <a:blip r:embed="rId2">
            <a:alphaModFix amt="42000"/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822960" y="566928"/>
            <a:ext cx="822960" cy="6350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7772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3200" b="1">
                <a:solidFill>
                  <a:srgbClr val="F2F4F8"/>
                </a:solidFill>
              </a:rPr>
              <a:t>Книжный, в котором задерживаются на час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965960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51560" y="2185416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0280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2185416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Магазин книг и кофейня в одном зале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008376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51560" y="3227832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3282696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3227832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Покупка книги не обязательна для входа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050792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51560" y="4270248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325112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4270248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Посадка на 24 места, средний визит 45 минут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5093208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51560" y="5312664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5367528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5312664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Формат работает на возврат, а не на проходимость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62636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0">
                <a:solidFill>
                  <a:srgbClr val="9AA4B2"/>
                </a:solidFill>
              </a:rPr>
              <a:t>Полка: книжный магазин-кофейня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26364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1">
                <a:solidFill>
                  <a:srgbClr val="9AA4B2"/>
                </a:solidFill>
              </a:rPr>
              <a:t>2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600">
        <p:fade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waves.png"/>
          <p:cNvPicPr>
            <a:picLocks noChangeAspect="1"/>
          </p:cNvPicPr>
          <p:nvPr/>
        </p:nvPicPr>
        <p:blipFill>
          <a:blip r:embed="rId2">
            <a:alphaModFix amt="42000"/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822960" y="566928"/>
            <a:ext cx="822960" cy="6350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7772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3200" b="1">
                <a:solidFill>
                  <a:srgbClr val="F2F4F8"/>
                </a:solidFill>
              </a:rPr>
              <a:t>Обычный книжный теряет посетителя за 6 минут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965960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51560" y="2185416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0280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2185416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Классический формат живёт с полки и кассы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008376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51560" y="3227832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3282696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3227832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Нет причины остаться и вернуться завтра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050792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51560" y="4270248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325112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4270248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Онлайн выигрывает по цене и ассортименту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5093208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51560" y="5312664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5367528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5312664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Мы конкурируем сценарием, а не скидкой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62636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0">
                <a:solidFill>
                  <a:srgbClr val="9AA4B2"/>
                </a:solidFill>
              </a:rPr>
              <a:t>Полка: книжный магазин-кофейня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26364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1">
                <a:solidFill>
                  <a:srgbClr val="9AA4B2"/>
                </a:solidFill>
              </a:rPr>
              <a:t>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600">
        <p:fade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waves.png"/>
          <p:cNvPicPr>
            <a:picLocks noChangeAspect="1"/>
          </p:cNvPicPr>
          <p:nvPr/>
        </p:nvPicPr>
        <p:blipFill>
          <a:blip r:embed="rId2">
            <a:alphaModFix amt="42000"/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822960" y="566928"/>
            <a:ext cx="822960" cy="6350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7772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3200" b="1">
                <a:solidFill>
                  <a:srgbClr val="F2F4F8"/>
                </a:solidFill>
              </a:rPr>
              <a:t>Три причины прийти вместо одной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965960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51560" y="2185416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0280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2185416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Кофе и завтрак - ежедневный повод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008376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51560" y="3227832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3282696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3227832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Книги и подарки - импульсная и плановая покупка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050792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51560" y="4270248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325112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4270248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Встречи и работа с ноутбуком - будни днём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5093208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51560" y="5312664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5367528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5312664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Клубы и встречи с авторами - вечера и выходные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62636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0">
                <a:solidFill>
                  <a:srgbClr val="9AA4B2"/>
                </a:solidFill>
              </a:rPr>
              <a:t>Полка: книжный магазин-кофейня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26364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1">
                <a:solidFill>
                  <a:srgbClr val="9AA4B2"/>
                </a:solidFill>
              </a:rPr>
              <a:t>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600">
        <p:fade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grid.png"/>
          <p:cNvPicPr>
            <a:picLocks noChangeAspect="1"/>
          </p:cNvPicPr>
          <p:nvPr/>
        </p:nvPicPr>
        <p:blipFill>
          <a:blip r:embed="rId2">
            <a:alphaModFix amt="42000"/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822960" y="566928"/>
            <a:ext cx="822960" cy="6350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7772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3200" b="1">
                <a:solidFill>
                  <a:srgbClr val="F2F4F8"/>
                </a:solidFill>
              </a:rPr>
              <a:t>Ядро аудитории: 25-40 лет, доход выше среднего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965960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51560" y="2185416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0280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2185416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62 процента - женщины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008376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51560" y="3227832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3282696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3227832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Покупают книги 1-2 раза в месяц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050792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51560" y="4270248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325112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4270248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Приходят в ТЦ по будням днём и в выходные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5093208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51560" y="5312664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5367528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5312664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Живут или работают в радиусе 15 минут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62636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0">
                <a:solidFill>
                  <a:srgbClr val="9AA4B2"/>
                </a:solidFill>
              </a:rPr>
              <a:t>Полка: книжный магазин-кофейня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26364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1">
                <a:solidFill>
                  <a:srgbClr val="9AA4B2"/>
                </a:solidFill>
              </a:rPr>
              <a:t>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600">
        <p:fade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urora.png"/>
          <p:cNvPicPr>
            <a:picLocks noChangeAspect="1"/>
          </p:cNvPicPr>
          <p:nvPr/>
        </p:nvPicPr>
        <p:blipFill>
          <a:blip r:embed="rId2">
            <a:alphaModFix amt="42000"/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822960" y="566928"/>
            <a:ext cx="822960" cy="6350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7772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3200" b="1">
                <a:solidFill>
                  <a:srgbClr val="F2F4F8"/>
                </a:solidFill>
              </a:rPr>
              <a:t>Трафик точки: 320 человек в день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286000"/>
            <a:ext cx="2388870" cy="2286000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560320"/>
            <a:ext cx="184023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3400" b="1">
                <a:solidFill>
                  <a:srgbClr val="4C9AFF"/>
                </a:solidFill>
              </a:rPr>
              <a:t>9600 посетителей в месяц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31870" y="2286000"/>
            <a:ext cx="2388870" cy="2286000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06190" y="2560320"/>
            <a:ext cx="184023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3400" b="1">
                <a:solidFill>
                  <a:srgbClr val="4C9AFF"/>
                </a:solidFill>
              </a:rPr>
              <a:t>Конверсия в чек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06190" y="3520440"/>
            <a:ext cx="184023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500" b="0">
                <a:solidFill>
                  <a:srgbClr val="9AA4B2"/>
                </a:solidFill>
              </a:rPr>
              <a:t>38 процентов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40780" y="2286000"/>
            <a:ext cx="2388870" cy="2286000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5100" y="2560320"/>
            <a:ext cx="184023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3400" b="1">
                <a:solidFill>
                  <a:srgbClr val="4C9AFF"/>
                </a:solidFill>
              </a:rPr>
              <a:t>3650 чеков в месяц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49690" y="2286000"/>
            <a:ext cx="2388870" cy="2286000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24010" y="2560320"/>
            <a:ext cx="184023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3400" b="1">
                <a:solidFill>
                  <a:srgbClr val="4C9AFF"/>
                </a:solidFill>
              </a:rPr>
              <a:t>Доля повторных гостей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24010" y="3520440"/>
            <a:ext cx="184023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500" b="0">
                <a:solidFill>
                  <a:srgbClr val="9AA4B2"/>
                </a:solidFill>
              </a:rPr>
              <a:t>41 процент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62636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0">
                <a:solidFill>
                  <a:srgbClr val="9AA4B2"/>
                </a:solidFill>
              </a:rPr>
              <a:t>Полка: книжный магазин-кофейня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0" y="626364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1">
                <a:solidFill>
                  <a:srgbClr val="9AA4B2"/>
                </a:solidFill>
              </a:rPr>
              <a:t>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600">
        <p:fade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waves.png"/>
          <p:cNvPicPr>
            <a:picLocks noChangeAspect="1"/>
          </p:cNvPicPr>
          <p:nvPr/>
        </p:nvPicPr>
        <p:blipFill>
          <a:blip r:embed="rId2">
            <a:alphaModFix amt="42000"/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822960" y="566928"/>
            <a:ext cx="822960" cy="6350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7772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3200" b="1">
                <a:solidFill>
                  <a:srgbClr val="F2F4F8"/>
                </a:solidFill>
              </a:rPr>
              <a:t>Средний чек 640 рублей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286000"/>
            <a:ext cx="2388870" cy="2286000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560320"/>
            <a:ext cx="184023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3400" b="1">
                <a:solidFill>
                  <a:srgbClr val="4C9AFF"/>
                </a:solidFill>
              </a:rPr>
              <a:t>Только кофе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520440"/>
            <a:ext cx="184023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500" b="0">
                <a:solidFill>
                  <a:srgbClr val="9AA4B2"/>
                </a:solidFill>
              </a:rPr>
              <a:t>280 рублей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31870" y="2286000"/>
            <a:ext cx="2388870" cy="2286000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06190" y="2560320"/>
            <a:ext cx="184023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3400" b="1">
                <a:solidFill>
                  <a:srgbClr val="4C9AFF"/>
                </a:solidFill>
              </a:rPr>
              <a:t>Кофе плюс книга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06190" y="3520440"/>
            <a:ext cx="184023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500" b="0">
                <a:solidFill>
                  <a:srgbClr val="9AA4B2"/>
                </a:solidFill>
              </a:rPr>
              <a:t>1150 рублей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0780" y="2286000"/>
            <a:ext cx="2388870" cy="2286000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15100" y="2560320"/>
            <a:ext cx="184023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3400" b="1">
                <a:solidFill>
                  <a:srgbClr val="4C9AFF"/>
                </a:solidFill>
              </a:rPr>
              <a:t>Смешанный чек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15100" y="3520440"/>
            <a:ext cx="184023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500" b="0">
                <a:solidFill>
                  <a:srgbClr val="9AA4B2"/>
                </a:solidFill>
              </a:rPr>
              <a:t>47 процентов покупок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49690" y="2286000"/>
            <a:ext cx="2388870" cy="2286000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24010" y="2560320"/>
            <a:ext cx="184023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3400" b="1">
                <a:solidFill>
                  <a:srgbClr val="4C9AFF"/>
                </a:solidFill>
              </a:rPr>
              <a:t>Выручка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24010" y="3520440"/>
            <a:ext cx="184023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500" b="0">
                <a:solidFill>
                  <a:srgbClr val="9AA4B2"/>
                </a:solidFill>
              </a:rPr>
              <a:t>2,3 млн рублей в месяц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2636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0">
                <a:solidFill>
                  <a:srgbClr val="9AA4B2"/>
                </a:solidFill>
              </a:rPr>
              <a:t>Полка: книжный магазин-кофейня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0" y="626364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1">
                <a:solidFill>
                  <a:srgbClr val="9AA4B2"/>
                </a:solidFill>
              </a:rPr>
              <a:t>7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600">
        <p:fade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grid.png"/>
          <p:cNvPicPr>
            <a:picLocks noChangeAspect="1"/>
          </p:cNvPicPr>
          <p:nvPr/>
        </p:nvPicPr>
        <p:blipFill>
          <a:blip r:embed="rId2">
            <a:alphaModFix amt="42000"/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822960" y="566928"/>
            <a:ext cx="822960" cy="6350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7772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3200" b="1">
                <a:solidFill>
                  <a:srgbClr val="F2F4F8"/>
                </a:solidFill>
              </a:rPr>
              <a:t>Экономика точки: выход в плюс на 8 месяце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286000"/>
            <a:ext cx="2388870" cy="2286000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560320"/>
            <a:ext cx="184023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3400" b="1">
                <a:solidFill>
                  <a:srgbClr val="4C9AFF"/>
                </a:solidFill>
              </a:rPr>
              <a:t>Инвестиции в открытие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520440"/>
            <a:ext cx="184023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500" b="0">
                <a:solidFill>
                  <a:srgbClr val="9AA4B2"/>
                </a:solidFill>
              </a:rPr>
              <a:t>6,4 млн рублей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31870" y="2286000"/>
            <a:ext cx="2388870" cy="2286000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06190" y="2560320"/>
            <a:ext cx="184023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3400" b="1">
                <a:solidFill>
                  <a:srgbClr val="4C9AFF"/>
                </a:solidFill>
              </a:rPr>
              <a:t>Операционные расходы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06190" y="3520440"/>
            <a:ext cx="184023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500" b="0">
                <a:solidFill>
                  <a:srgbClr val="9AA4B2"/>
                </a:solidFill>
              </a:rPr>
              <a:t>1,7 млн в месяц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0780" y="2286000"/>
            <a:ext cx="2388870" cy="2286000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15100" y="2560320"/>
            <a:ext cx="184023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3400" b="1">
                <a:solidFill>
                  <a:srgbClr val="4C9AFF"/>
                </a:solidFill>
              </a:rPr>
              <a:t>Маржинальность кофе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15100" y="3520440"/>
            <a:ext cx="184023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500" b="0">
                <a:solidFill>
                  <a:srgbClr val="9AA4B2"/>
                </a:solidFill>
              </a:rPr>
              <a:t>72 процента, книг - 34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49690" y="2286000"/>
            <a:ext cx="2388870" cy="2286000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24010" y="2560320"/>
            <a:ext cx="184023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3400" b="1">
                <a:solidFill>
                  <a:srgbClr val="4C9AFF"/>
                </a:solidFill>
              </a:rPr>
              <a:t>Окупаемость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24010" y="3520440"/>
            <a:ext cx="184023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500" b="0">
                <a:solidFill>
                  <a:srgbClr val="9AA4B2"/>
                </a:solidFill>
              </a:rPr>
              <a:t>22 месяца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2636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0">
                <a:solidFill>
                  <a:srgbClr val="9AA4B2"/>
                </a:solidFill>
              </a:rPr>
              <a:t>Полка: книжный магазин-кофейня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0" y="626364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1">
                <a:solidFill>
                  <a:srgbClr val="9AA4B2"/>
                </a:solidFill>
              </a:rPr>
              <a:t>8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600">
        <p:fade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urora.png"/>
          <p:cNvPicPr>
            <a:picLocks noChangeAspect="1"/>
          </p:cNvPicPr>
          <p:nvPr/>
        </p:nvPicPr>
        <p:blipFill>
          <a:blip r:embed="rId2">
            <a:alphaModFix amt="42000"/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822960" y="566928"/>
            <a:ext cx="822960" cy="6350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7772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3200" b="1">
                <a:solidFill>
                  <a:srgbClr val="F2F4F8"/>
                </a:solidFill>
              </a:rPr>
              <a:t>Что нужно от площадки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965960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51560" y="2185416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0280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2185416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120-160 квадратных метров, второй или третий этаж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008376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51560" y="3227832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3282696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3227832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Витрина и подвод воды и канализации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050792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51560" y="4270248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325112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4270248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Соседство с кинотеатром или фудкортом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5093208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51560" y="5312664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5367528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5312664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Аренда - не выше 12 процентов выручки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62636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0">
                <a:solidFill>
                  <a:srgbClr val="9AA4B2"/>
                </a:solidFill>
              </a:rPr>
              <a:t>Полка: книжный магазин-кофейня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26364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1">
                <a:solidFill>
                  <a:srgbClr val="9AA4B2"/>
                </a:solidFill>
              </a:rPr>
              <a:t>9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600">
        <p:fade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grid.png"/>
          <p:cNvPicPr>
            <a:picLocks noChangeAspect="1"/>
          </p:cNvPicPr>
          <p:nvPr/>
        </p:nvPicPr>
        <p:blipFill>
          <a:blip r:embed="rId2">
            <a:alphaModFix amt="42000"/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822960" y="566928"/>
            <a:ext cx="822960" cy="6350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7772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3200" b="1">
                <a:solidFill>
                  <a:srgbClr val="F2F4F8"/>
                </a:solidFill>
              </a:rPr>
              <a:t>Мы удерживаем посетителя на этаже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965960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51560" y="2185416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0280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2185416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Средний визит 45 минут против 6 у книжного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008376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51560" y="3227832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3282696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3227832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Гость возвращается 2,4 раза в месяц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050792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51560" y="4270248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325112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4270248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Мероприятия приводят 150-200 человек за вечер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5093208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51560" y="5312664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5367528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5312664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Работаем в дневные часы, когда ТЦ пустой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62636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0">
                <a:solidFill>
                  <a:srgbClr val="9AA4B2"/>
                </a:solidFill>
              </a:rPr>
              <a:t>Полка: книжный магазин-кофейня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26364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1">
                <a:solidFill>
                  <a:srgbClr val="9AA4B2"/>
                </a:solidFill>
              </a:rPr>
              <a:t>10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600">
        <p:fade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esh.png"/>
          <p:cNvPicPr>
            <a:picLocks noChangeAspect="1"/>
          </p:cNvPicPr>
          <p:nvPr/>
        </p:nvPicPr>
        <p:blipFill>
          <a:blip r:embed="rId2">
            <a:alphaModFix amt="42000"/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822960" y="566928"/>
            <a:ext cx="822960" cy="6350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7772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3200" b="1">
                <a:solidFill>
                  <a:srgbClr val="F2F4F8"/>
                </a:solidFill>
              </a:rPr>
              <a:t>Партнёрам: издательства, обжарщики, бренды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965960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51560" y="2185416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0280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2185416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Издательствам - площадка для презентаций и продаж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008376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51560" y="3227832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3282696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3227832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Обжарщикам - витрина и стабильный объём закупки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050792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51560" y="4270248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325112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4270248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Брендам - тематические полки и коллаборации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5093208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51560" y="5312664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5367528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5312664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Прозрачная отчётность по продажам каждый месяц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62636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0">
                <a:solidFill>
                  <a:srgbClr val="9AA4B2"/>
                </a:solidFill>
              </a:rPr>
              <a:t>Полка: книжный магазин-кофейня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26364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1">
                <a:solidFill>
                  <a:srgbClr val="9AA4B2"/>
                </a:solidFill>
              </a:rPr>
              <a:t>11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600">
        <p:fade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waves.png"/>
          <p:cNvPicPr>
            <a:picLocks noChangeAspect="1"/>
          </p:cNvPicPr>
          <p:nvPr/>
        </p:nvPicPr>
        <p:blipFill>
          <a:blip r:embed="rId2">
            <a:alphaModFix amt="42000"/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822960" y="566928"/>
            <a:ext cx="822960" cy="6350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7772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3200" b="1">
                <a:solidFill>
                  <a:srgbClr val="F2F4F8"/>
                </a:solidFill>
              </a:rPr>
              <a:t>Первая точка - осень, вторая - через год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965960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51560" y="2185416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0280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2185416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Сентябрь - подписание и начало ремонта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008376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51560" y="3227832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3282696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3227832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Декабрь - открытие к высокому сезону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050792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51560" y="4270248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325112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4270248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Полгода - выход на плановые показатели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5093208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51560" y="5312664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5367528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5312664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Через год - вторая точка в сети ТЦ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62636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0">
                <a:solidFill>
                  <a:srgbClr val="9AA4B2"/>
                </a:solidFill>
              </a:rPr>
              <a:t>Полка: книжный магазин-кофейня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26364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1">
                <a:solidFill>
                  <a:srgbClr val="9AA4B2"/>
                </a:solidFill>
              </a:rPr>
              <a:t>12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600">
        <p:fade/>
      </p:transition>
    </mc:Choice>
    <mc:Fallback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ings.png"/>
          <p:cNvPicPr>
            <a:picLocks noChangeAspect="1"/>
          </p:cNvPicPr>
          <p:nvPr/>
        </p:nvPicPr>
        <p:blipFill>
          <a:blip r:embed="rId2">
            <a:alphaModFix amt="42000"/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822960" y="566928"/>
            <a:ext cx="822960" cy="6350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7772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3200" b="1">
                <a:solidFill>
                  <a:srgbClr val="F2F4F8"/>
                </a:solidFill>
              </a:rPr>
              <a:t>О чём договариваемся сейчас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965960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51560" y="2185416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0280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2185416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Просмотр помещения и замеры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008376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51560" y="3227832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3282696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3227832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Арендные каникулы на период ремонта - 3 месяца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050792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51560" y="4270248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325112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4270248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Пилот на 12 месяцев с опцией продления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5093208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51560" y="5312664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5367528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5312664"/>
            <a:ext cx="9326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Встреча с партнёрами по ассортименту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62636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0">
                <a:solidFill>
                  <a:srgbClr val="9AA4B2"/>
                </a:solidFill>
              </a:rPr>
              <a:t>Полка: книжный магазин-кофейня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26364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1">
                <a:solidFill>
                  <a:srgbClr val="9AA4B2"/>
                </a:solidFill>
              </a:rPr>
              <a:t>13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600">
        <p:fade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