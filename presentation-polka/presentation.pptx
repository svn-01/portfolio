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Начинаю с боли, которую знает каждый в зале, у кого дома больше пары стеллажей.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Ключевое отличие - не ручной ввод и не сканер штрихкода, а съёмка полки целиком.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Здесь показываю живое демо на телефоне, тридцать секунд, без слайдов.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Рынок узкий, но платёжеспособный и совсем не занятый - это наш шанс.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Лимит в 100 книг - не жадность, а фильтр: платит тот, кому продукт реально нужен.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Главная цифра - удержание: 42% на третьем месяце говорит, что привычка формируется.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Сейчас весь рост органический, платные каналы даже не тестировали - запас большой.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Команда сработана и сделала весь текущий результат без внешних денег.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Деньги нужны на две вещи: точность распознавания и первый управляемый трафик.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Заканчиваю прямым предложением встретиться и показать метрики в динамике.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377440"/>
            <a:ext cx="10515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4400" b="1">
                <a:solidFill>
                  <a:srgbClr val="F2F4F8"/>
                </a:solidFill>
              </a:rPr>
              <a:t>Полка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9319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2000" b="0">
                <a:solidFill>
                  <a:srgbClr val="9AA4B2"/>
                </a:solidFill>
              </a:rPr>
              <a:t>Учёт домашней библиотеки: сканируй корешок - книга в каталоге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3200" b="1">
                <a:solidFill>
                  <a:srgbClr val="F2F4F8"/>
                </a:solidFill>
              </a:rPr>
              <a:t>200 книг дома - и ни одного списка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00200"/>
            <a:ext cx="2011680" cy="20000"/>
          </a:xfrm>
          <a:prstGeom prst="rect">
            <a:avLst/>
          </a:prstGeom>
          <a:solidFill>
            <a:srgbClr val="4C9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Aft>
                <a:spcPts val="1000"/>
              </a:spcAft>
            </a:pPr>
            <a:r>
              <a:rPr sz="2000" b="0">
                <a:solidFill>
                  <a:srgbClr val="F2F4F8"/>
                </a:solidFill>
              </a:rPr>
              <a:t>•  Владелец не помнит, что уже стоит на полке</a:t>
            </a:r>
          </a:p>
          <a:p>
            <a:pPr>
              <a:lnSpc>
                <a:spcPct val="135000"/>
              </a:lnSpc>
              <a:spcAft>
                <a:spcPts val="1000"/>
              </a:spcAft>
            </a:pPr>
            <a:r>
              <a:rPr sz="2000" b="0">
                <a:solidFill>
                  <a:srgbClr val="F2F4F8"/>
                </a:solidFill>
              </a:rPr>
              <a:t>•  Дубликаты покупаются по несколько раз в год</a:t>
            </a:r>
          </a:p>
          <a:p>
            <a:pPr>
              <a:lnSpc>
                <a:spcPct val="135000"/>
              </a:lnSpc>
              <a:spcAft>
                <a:spcPts val="1000"/>
              </a:spcAft>
            </a:pPr>
            <a:r>
              <a:rPr sz="2000" b="0">
                <a:solidFill>
                  <a:srgbClr val="F2F4F8"/>
                </a:solidFill>
              </a:rPr>
              <a:t>•  Одолженные книги растворяются у друзей</a:t>
            </a:r>
          </a:p>
          <a:p>
            <a:pPr>
              <a:lnSpc>
                <a:spcPct val="135000"/>
              </a:lnSpc>
              <a:spcAft>
                <a:spcPts val="1000"/>
              </a:spcAft>
            </a:pPr>
            <a:r>
              <a:rPr sz="2000" b="0">
                <a:solidFill>
                  <a:srgbClr val="F2F4F8"/>
                </a:solidFill>
              </a:rPr>
              <a:t>•  Таблицы и блокноты забрасывают через неделю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3200" b="1">
                <a:solidFill>
                  <a:srgbClr val="F2F4F8"/>
                </a:solidFill>
              </a:rPr>
              <a:t>Навёл камеру на полку - каталог готов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00200"/>
            <a:ext cx="2011680" cy="20000"/>
          </a:xfrm>
          <a:prstGeom prst="rect">
            <a:avLst/>
          </a:prstGeom>
          <a:solidFill>
            <a:srgbClr val="4C9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Aft>
                <a:spcPts val="1000"/>
              </a:spcAft>
            </a:pPr>
            <a:r>
              <a:rPr sz="2000" b="0">
                <a:solidFill>
                  <a:srgbClr val="F2F4F8"/>
                </a:solidFill>
              </a:rPr>
              <a:t>•  Распознаём корешки прямо с фото стеллажа</a:t>
            </a:r>
          </a:p>
          <a:p>
            <a:pPr>
              <a:lnSpc>
                <a:spcPct val="135000"/>
              </a:lnSpc>
              <a:spcAft>
                <a:spcPts val="1000"/>
              </a:spcAft>
            </a:pPr>
            <a:r>
              <a:rPr sz="2000" b="0">
                <a:solidFill>
                  <a:srgbClr val="F2F4F8"/>
                </a:solidFill>
              </a:rPr>
              <a:t>•  Книга попадает в каталог за секунду</a:t>
            </a:r>
          </a:p>
          <a:p>
            <a:pPr>
              <a:lnSpc>
                <a:spcPct val="135000"/>
              </a:lnSpc>
              <a:spcAft>
                <a:spcPts val="1000"/>
              </a:spcAft>
            </a:pPr>
            <a:r>
              <a:rPr sz="2000" b="0">
                <a:solidFill>
                  <a:srgbClr val="F2F4F8"/>
                </a:solidFill>
              </a:rPr>
              <a:t>•  Видно, кому одолжил и когда</a:t>
            </a:r>
          </a:p>
          <a:p>
            <a:pPr>
              <a:lnSpc>
                <a:spcPct val="135000"/>
              </a:lnSpc>
              <a:spcAft>
                <a:spcPts val="1000"/>
              </a:spcAft>
            </a:pPr>
            <a:r>
              <a:rPr sz="2000" b="0">
                <a:solidFill>
                  <a:srgbClr val="F2F4F8"/>
                </a:solidFill>
              </a:rPr>
              <a:t>•  Напоминание должнику в один тап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3200" b="1">
                <a:solidFill>
                  <a:srgbClr val="F2F4F8"/>
                </a:solidFill>
              </a:rPr>
              <a:t>Три шага от стеллажа до порядка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00200"/>
            <a:ext cx="2011680" cy="20000"/>
          </a:xfrm>
          <a:prstGeom prst="rect">
            <a:avLst/>
          </a:prstGeom>
          <a:solidFill>
            <a:srgbClr val="4C9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Aft>
                <a:spcPts val="1000"/>
              </a:spcAft>
            </a:pPr>
            <a:r>
              <a:rPr sz="2000" b="0">
                <a:solidFill>
                  <a:srgbClr val="F2F4F8"/>
                </a:solidFill>
              </a:rPr>
              <a:t>•  Снял полку - получил распознанные названия</a:t>
            </a:r>
          </a:p>
          <a:p>
            <a:pPr>
              <a:lnSpc>
                <a:spcPct val="135000"/>
              </a:lnSpc>
              <a:spcAft>
                <a:spcPts val="1000"/>
              </a:spcAft>
            </a:pPr>
            <a:r>
              <a:rPr sz="2000" b="0">
                <a:solidFill>
                  <a:srgbClr val="F2F4F8"/>
                </a:solidFill>
              </a:rPr>
              <a:t>•  Подтвердил - обложки и данные подтянулись сами</a:t>
            </a:r>
          </a:p>
          <a:p>
            <a:pPr>
              <a:lnSpc>
                <a:spcPct val="135000"/>
              </a:lnSpc>
              <a:spcAft>
                <a:spcPts val="1000"/>
              </a:spcAft>
            </a:pPr>
            <a:r>
              <a:rPr sz="2000" b="0">
                <a:solidFill>
                  <a:srgbClr val="F2F4F8"/>
                </a:solidFill>
              </a:rPr>
              <a:t>•  Отметил выдачу - трекер ведёт срок возврата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3200" b="1">
                <a:solidFill>
                  <a:srgbClr val="F2F4F8"/>
                </a:solidFill>
              </a:rPr>
              <a:t>12 млн человек с домашней библиотекой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00200"/>
            <a:ext cx="2011680" cy="20000"/>
          </a:xfrm>
          <a:prstGeom prst="rect">
            <a:avLst/>
          </a:prstGeom>
          <a:solidFill>
            <a:srgbClr val="4C9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Aft>
                <a:spcPts val="1000"/>
              </a:spcAft>
            </a:pPr>
            <a:r>
              <a:rPr sz="2600" b="1">
                <a:solidFill>
                  <a:srgbClr val="4C9AFF"/>
                </a:solidFill>
              </a:rPr>
              <a:t>12 млн россиян держат дома 100+ книг</a:t>
            </a:r>
          </a:p>
          <a:p>
            <a:pPr>
              <a:lnSpc>
                <a:spcPct val="135000"/>
              </a:lnSpc>
              <a:spcAft>
                <a:spcPts val="1000"/>
              </a:spcAft>
            </a:pPr>
            <a:r>
              <a:rPr sz="2600" b="1">
                <a:solidFill>
                  <a:srgbClr val="4C9AFF"/>
                </a:solidFill>
              </a:rPr>
              <a:t>Ядро - собиратели с 200+ книгами</a:t>
            </a:r>
          </a:p>
          <a:p>
            <a:pPr>
              <a:lnSpc>
                <a:spcPct val="135000"/>
              </a:lnSpc>
              <a:spcAft>
                <a:spcPts val="1000"/>
              </a:spcAft>
            </a:pPr>
            <a:r>
              <a:rPr sz="2600" b="1">
                <a:solidFill>
                  <a:srgbClr val="4C9AFF"/>
                </a:solidFill>
              </a:rPr>
              <a:t>Прямых конкурентов на русском рынке нет</a:t>
            </a:r>
          </a:p>
          <a:p>
            <a:pPr>
              <a:lnSpc>
                <a:spcPct val="135000"/>
              </a:lnSpc>
              <a:spcAft>
                <a:spcPts val="1000"/>
              </a:spcAft>
            </a:pPr>
            <a:r>
              <a:rPr sz="2600" b="1">
                <a:solidFill>
                  <a:srgbClr val="4C9AFF"/>
                </a:solidFill>
              </a:rPr>
              <a:t>Западные аналоги без сканирования корешков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3200" b="1">
                <a:solidFill>
                  <a:srgbClr val="F2F4F8"/>
                </a:solidFill>
              </a:rPr>
              <a:t>199 рублей в месяц после сотой книги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00200"/>
            <a:ext cx="2011680" cy="20000"/>
          </a:xfrm>
          <a:prstGeom prst="rect">
            <a:avLst/>
          </a:prstGeom>
          <a:solidFill>
            <a:srgbClr val="4C9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Aft>
                <a:spcPts val="1000"/>
              </a:spcAft>
            </a:pPr>
            <a:r>
              <a:rPr sz="2000" b="0">
                <a:solidFill>
                  <a:srgbClr val="F2F4F8"/>
                </a:solidFill>
              </a:rPr>
              <a:t>•  Бесплатно - до 100 книг в каталоге</a:t>
            </a:r>
          </a:p>
          <a:p>
            <a:pPr>
              <a:lnSpc>
                <a:spcPct val="135000"/>
              </a:lnSpc>
              <a:spcAft>
                <a:spcPts val="1000"/>
              </a:spcAft>
            </a:pPr>
            <a:r>
              <a:rPr sz="2000" b="0">
                <a:solidFill>
                  <a:srgbClr val="F2F4F8"/>
                </a:solidFill>
              </a:rPr>
              <a:t>•  Подписка 199 руб/мес - без лимита</a:t>
            </a:r>
          </a:p>
          <a:p>
            <a:pPr>
              <a:lnSpc>
                <a:spcPct val="135000"/>
              </a:lnSpc>
              <a:spcAft>
                <a:spcPts val="1000"/>
              </a:spcAft>
            </a:pPr>
            <a:r>
              <a:rPr sz="2000" b="0">
                <a:solidFill>
                  <a:srgbClr val="F2F4F8"/>
                </a:solidFill>
              </a:rPr>
              <a:t>•  Порог срабатывает ровно на нашей аудитории</a:t>
            </a:r>
          </a:p>
          <a:p>
            <a:pPr>
              <a:lnSpc>
                <a:spcPct val="135000"/>
              </a:lnSpc>
              <a:spcAft>
                <a:spcPts val="1000"/>
              </a:spcAft>
            </a:pPr>
            <a:r>
              <a:rPr sz="2000" b="0">
                <a:solidFill>
                  <a:srgbClr val="F2F4F8"/>
                </a:solidFill>
              </a:rPr>
              <a:t>•  Дальше - семейный доступ и продажа дубликатов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3200" b="1">
                <a:solidFill>
                  <a:srgbClr val="F2F4F8"/>
                </a:solidFill>
              </a:rPr>
              <a:t>14 000 установок без единого рубля на рекламу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00200"/>
            <a:ext cx="2011680" cy="20000"/>
          </a:xfrm>
          <a:prstGeom prst="rect">
            <a:avLst/>
          </a:prstGeom>
          <a:solidFill>
            <a:srgbClr val="4C9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Aft>
                <a:spcPts val="1000"/>
              </a:spcAft>
            </a:pPr>
            <a:r>
              <a:rPr sz="2600" b="1">
                <a:solidFill>
                  <a:srgbClr val="4C9AFF"/>
                </a:solidFill>
              </a:rPr>
              <a:t>8 месяцев работы продукта</a:t>
            </a:r>
          </a:p>
          <a:p>
            <a:pPr>
              <a:lnSpc>
                <a:spcPct val="135000"/>
              </a:lnSpc>
              <a:spcAft>
                <a:spcPts val="1000"/>
              </a:spcAft>
            </a:pPr>
            <a:r>
              <a:rPr sz="2600" b="1">
                <a:solidFill>
                  <a:srgbClr val="4C9AFF"/>
                </a:solidFill>
              </a:rPr>
              <a:t>14 000 установок органикой</a:t>
            </a:r>
          </a:p>
          <a:p>
            <a:pPr>
              <a:lnSpc>
                <a:spcPct val="135000"/>
              </a:lnSpc>
              <a:spcAft>
                <a:spcPts val="1000"/>
              </a:spcAft>
            </a:pPr>
            <a:r>
              <a:rPr sz="2600" b="1">
                <a:solidFill>
                  <a:srgbClr val="4C9AFF"/>
                </a:solidFill>
              </a:rPr>
              <a:t>1 900 платящих подписчиков</a:t>
            </a:r>
          </a:p>
          <a:p>
            <a:pPr>
              <a:lnSpc>
                <a:spcPct val="135000"/>
              </a:lnSpc>
              <a:spcAft>
                <a:spcPts val="1000"/>
              </a:spcAft>
            </a:pPr>
            <a:r>
              <a:rPr sz="2600" b="1">
                <a:solidFill>
                  <a:srgbClr val="4C9AFF"/>
                </a:solidFill>
              </a:rPr>
              <a:t>42% удержание на третий месяц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3200" b="1">
                <a:solidFill>
                  <a:srgbClr val="F2F4F8"/>
                </a:solidFill>
              </a:rPr>
              <a:t>Растём на сарафане книжных сообществ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00200"/>
            <a:ext cx="2011680" cy="20000"/>
          </a:xfrm>
          <a:prstGeom prst="rect">
            <a:avLst/>
          </a:prstGeom>
          <a:solidFill>
            <a:srgbClr val="4C9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Aft>
                <a:spcPts val="1000"/>
              </a:spcAft>
            </a:pPr>
            <a:r>
              <a:rPr sz="2000" b="0">
                <a:solidFill>
                  <a:srgbClr val="F2F4F8"/>
                </a:solidFill>
              </a:rPr>
              <a:t>•  Книжные блогеры и клубы читателей</a:t>
            </a:r>
          </a:p>
          <a:p>
            <a:pPr>
              <a:lnSpc>
                <a:spcPct val="135000"/>
              </a:lnSpc>
              <a:spcAft>
                <a:spcPts val="1000"/>
              </a:spcAft>
            </a:pPr>
            <a:r>
              <a:rPr sz="2000" b="0">
                <a:solidFill>
                  <a:srgbClr val="F2F4F8"/>
                </a:solidFill>
              </a:rPr>
              <a:t>•  Расшаренная полка как витрина для друзей</a:t>
            </a:r>
          </a:p>
          <a:p>
            <a:pPr>
              <a:lnSpc>
                <a:spcPct val="135000"/>
              </a:lnSpc>
              <a:spcAft>
                <a:spcPts val="1000"/>
              </a:spcAft>
            </a:pPr>
            <a:r>
              <a:rPr sz="2000" b="0">
                <a:solidFill>
                  <a:srgbClr val="F2F4F8"/>
                </a:solidFill>
              </a:rPr>
              <a:t>•  Партнёрство с книжными магазинами</a:t>
            </a:r>
          </a:p>
          <a:p>
            <a:pPr>
              <a:lnSpc>
                <a:spcPct val="135000"/>
              </a:lnSpc>
              <a:spcAft>
                <a:spcPts val="1000"/>
              </a:spcAft>
            </a:pPr>
            <a:r>
              <a:rPr sz="2000" b="0">
                <a:solidFill>
                  <a:srgbClr val="F2F4F8"/>
                </a:solidFill>
              </a:rPr>
              <a:t>•  Платный трафик включаем после инвестиций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3200" b="1">
                <a:solidFill>
                  <a:srgbClr val="F2F4F8"/>
                </a:solidFill>
              </a:rPr>
              <a:t>Четверо, которые уже вывезли восемь месяцев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00200"/>
            <a:ext cx="2011680" cy="20000"/>
          </a:xfrm>
          <a:prstGeom prst="rect">
            <a:avLst/>
          </a:prstGeom>
          <a:solidFill>
            <a:srgbClr val="4C9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Aft>
                <a:spcPts val="1000"/>
              </a:spcAft>
            </a:pPr>
            <a:r>
              <a:rPr sz="2000" b="0">
                <a:solidFill>
                  <a:srgbClr val="F2F4F8"/>
                </a:solidFill>
              </a:rPr>
              <a:t>•  Продукт и мобильная разработка</a:t>
            </a:r>
          </a:p>
          <a:p>
            <a:pPr>
              <a:lnSpc>
                <a:spcPct val="135000"/>
              </a:lnSpc>
              <a:spcAft>
                <a:spcPts val="1000"/>
              </a:spcAft>
            </a:pPr>
            <a:r>
              <a:rPr sz="2000" b="0">
                <a:solidFill>
                  <a:srgbClr val="F2F4F8"/>
                </a:solidFill>
              </a:rPr>
              <a:t>•  Компьютерное зрение и распознавание</a:t>
            </a:r>
          </a:p>
          <a:p>
            <a:pPr>
              <a:lnSpc>
                <a:spcPct val="135000"/>
              </a:lnSpc>
              <a:spcAft>
                <a:spcPts val="1000"/>
              </a:spcAft>
            </a:pPr>
            <a:r>
              <a:rPr sz="2000" b="0">
                <a:solidFill>
                  <a:srgbClr val="F2F4F8"/>
                </a:solidFill>
              </a:rPr>
              <a:t>•  Бэкенд и база книжных данных</a:t>
            </a:r>
          </a:p>
          <a:p>
            <a:pPr>
              <a:lnSpc>
                <a:spcPct val="135000"/>
              </a:lnSpc>
              <a:spcAft>
                <a:spcPts val="1000"/>
              </a:spcAft>
            </a:pPr>
            <a:r>
              <a:rPr sz="2000" b="0">
                <a:solidFill>
                  <a:srgbClr val="F2F4F8"/>
                </a:solidFill>
              </a:rPr>
              <a:t>•  Маркетинг и работа с сообществом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3200" b="1">
                <a:solidFill>
                  <a:srgbClr val="F2F4F8"/>
                </a:solidFill>
              </a:rPr>
              <a:t>15 млн рублей на 18 месяцев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00200"/>
            <a:ext cx="2011680" cy="20000"/>
          </a:xfrm>
          <a:prstGeom prst="rect">
            <a:avLst/>
          </a:prstGeom>
          <a:solidFill>
            <a:srgbClr val="4C9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Aft>
                <a:spcPts val="1000"/>
              </a:spcAft>
            </a:pPr>
            <a:r>
              <a:rPr sz="2600" b="1">
                <a:solidFill>
                  <a:srgbClr val="4C9AFF"/>
                </a:solidFill>
              </a:rPr>
              <a:t>15 млн рублей - объём раунда</a:t>
            </a:r>
          </a:p>
          <a:p>
            <a:pPr>
              <a:lnSpc>
                <a:spcPct val="135000"/>
              </a:lnSpc>
              <a:spcAft>
                <a:spcPts val="1000"/>
              </a:spcAft>
            </a:pPr>
            <a:r>
              <a:rPr sz="2600" b="1">
                <a:solidFill>
                  <a:srgbClr val="4C9AFF"/>
                </a:solidFill>
              </a:rPr>
              <a:t>18 месяцев - горизонт до следующей точки</a:t>
            </a:r>
          </a:p>
          <a:p>
            <a:pPr>
              <a:lnSpc>
                <a:spcPct val="135000"/>
              </a:lnSpc>
              <a:spcAft>
                <a:spcPts val="1000"/>
              </a:spcAft>
            </a:pPr>
            <a:r>
              <a:rPr sz="2600" b="1">
                <a:solidFill>
                  <a:srgbClr val="4C9AFF"/>
                </a:solidFill>
              </a:rPr>
              <a:t>Половина - в команду и качество распознавания</a:t>
            </a:r>
          </a:p>
          <a:p>
            <a:pPr>
              <a:lnSpc>
                <a:spcPct val="135000"/>
              </a:lnSpc>
              <a:spcAft>
                <a:spcPts val="1000"/>
              </a:spcAft>
            </a:pPr>
            <a:r>
              <a:rPr sz="2600" b="1">
                <a:solidFill>
                  <a:srgbClr val="4C9AFF"/>
                </a:solidFill>
              </a:rPr>
              <a:t>Треть - в платные каналы привлечения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3200" b="1">
                <a:solidFill>
                  <a:srgbClr val="F2F4F8"/>
                </a:solidFill>
              </a:rPr>
              <a:t>Через 18 месяцев - 20 000 платящих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00200"/>
            <a:ext cx="2011680" cy="20000"/>
          </a:xfrm>
          <a:prstGeom prst="rect">
            <a:avLst/>
          </a:prstGeom>
          <a:solidFill>
            <a:srgbClr val="4C9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Aft>
                <a:spcPts val="1000"/>
              </a:spcAft>
            </a:pPr>
            <a:r>
              <a:rPr sz="2600" b="1">
                <a:solidFill>
                  <a:srgbClr val="4C9AFF"/>
                </a:solidFill>
              </a:rPr>
              <a:t>20 000 платящих подписчиков</a:t>
            </a:r>
          </a:p>
          <a:p>
            <a:pPr>
              <a:lnSpc>
                <a:spcPct val="135000"/>
              </a:lnSpc>
              <a:spcAft>
                <a:spcPts val="1000"/>
              </a:spcAft>
            </a:pPr>
            <a:r>
              <a:rPr sz="2600" b="1">
                <a:solidFill>
                  <a:srgbClr val="4C9AFF"/>
                </a:solidFill>
              </a:rPr>
              <a:t>Выход на операционную безубыточность</a:t>
            </a:r>
          </a:p>
          <a:p>
            <a:pPr>
              <a:lnSpc>
                <a:spcPct val="135000"/>
              </a:lnSpc>
              <a:spcAft>
                <a:spcPts val="1000"/>
              </a:spcAft>
            </a:pPr>
            <a:r>
              <a:rPr sz="2600" b="1">
                <a:solidFill>
                  <a:srgbClr val="4C9AFF"/>
                </a:solidFill>
              </a:rPr>
              <a:t>Семейные и клубные тарифы в продукте</a:t>
            </a:r>
          </a:p>
          <a:p>
            <a:pPr>
              <a:lnSpc>
                <a:spcPct val="135000"/>
              </a:lnSpc>
              <a:spcAft>
                <a:spcPts val="1000"/>
              </a:spcAft>
            </a:pPr>
            <a:r>
              <a:rPr sz="2600" b="1">
                <a:solidFill>
                  <a:srgbClr val="4C9AFF"/>
                </a:solidFill>
              </a:rPr>
              <a:t>База для раунда А на масштабирование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