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Начинаю с рынка: покупатель не отказался от лимонада, он отказался от плохого состава. Это и есть наша ниша.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Объясняю концепцию бренда одной фразой: честный состав по доступной цене. Это ключ ко всей презентации.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Показываю линейку: три классических вкуса дают оборот, три ягодных - маржу и интерес.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Подчёркиваю, что форматы не конкурируют между собой, а работают на разные корзины.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главный слайд переговоров. Даю паузу после цифр - пусть закупщик их посчитает сам.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Отрабатываю главное возражение: натуральное не значит короткий срок и списания.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не обещания, а факт продаж. Готов показать выгрузку по каждому магазину.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Показываю, что наш покупатель уже ходит в их сеть и тратит выше среднего чека.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Снимаю опасение закупщика о каннибализации собственных марок.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Коротко подтверждаю, что мы выдержим объёмы федеральной сети.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Мы не оставляем товар на полке в одиночестве, бюджет на поддержку заложен.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Показываю физические образцы упаковки, даю подержать в руках.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Считаю вместе с закупщиком доход с полкометра - именно эта цифра решает.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Даю понятный и необременительный путь входа - начинаем с теста, а не с федеральной матрицы.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Закрываю на конкретное действие: договориться о дате отправки образцов прямо сейчас.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8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778240" y="-1005840"/>
            <a:ext cx="5120640" cy="5120640"/>
          </a:xfrm>
          <a:prstGeom prst="ellipse">
            <a:avLst/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98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424160" y="4206240"/>
            <a:ext cx="2194560" cy="2194560"/>
          </a:xfrm>
          <a:prstGeom prst="ellipse">
            <a:avLst/>
          </a:prstGeom>
          <a:gradFill rotWithShape="1">
            <a:gsLst>
              <a:gs pos="0">
                <a:srgbClr val="7B61FF"/>
              </a:gs>
              <a:gs pos="100000">
                <a:srgbClr val="4C9AFF"/>
              </a:gs>
            </a:gsLst>
            <a:lin scaled="0" ang="198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22960" y="2148840"/>
            <a:ext cx="1371600" cy="76200"/>
          </a:xfrm>
          <a:prstGeom prst="roundRect">
            <a:avLst>
              <a:gd name="adj" fmla="val 6000"/>
            </a:avLst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468880"/>
            <a:ext cx="80467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</a:pPr>
            <a:r>
              <a:rPr sz="4600" b="1">
                <a:solidFill>
                  <a:srgbClr val="F2F4F8"/>
                </a:solidFill>
              </a:rPr>
              <a:t>Лимонады на натуральном составе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480560"/>
            <a:ext cx="7680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2000" b="0">
                <a:solidFill>
                  <a:srgbClr val="9AA4B2"/>
                </a:solidFill>
              </a:rPr>
              <a:t>Предложение для торговых сетей и дистрибьюторов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8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566928"/>
            <a:ext cx="822960" cy="63500"/>
          </a:xfrm>
          <a:prstGeom prst="roundRect">
            <a:avLst>
              <a:gd name="adj" fmla="val 6000"/>
            </a:avLst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7724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3200" b="1">
                <a:solidFill>
                  <a:srgbClr val="F2F4F8"/>
                </a:solidFill>
              </a:rPr>
              <a:t>Покупатель ушёл от сладкой газировки, но не от вкуса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965960"/>
            <a:ext cx="10515600" cy="841248"/>
          </a:xfrm>
          <a:prstGeom prst="roundRect">
            <a:avLst>
              <a:gd name="adj" fmla="val 6000"/>
            </a:avLst>
          </a:pr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51560" y="2185416"/>
            <a:ext cx="402336" cy="402336"/>
          </a:xfrm>
          <a:prstGeom prst="ellipse">
            <a:avLst/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98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2240280"/>
            <a:ext cx="40233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400" b="1">
                <a:solidFill>
                  <a:srgbClr val="141820"/>
                </a:solidFill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91640" y="2185416"/>
            <a:ext cx="941832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800" b="0">
                <a:solidFill>
                  <a:srgbClr val="F2F4F8"/>
                </a:solidFill>
              </a:rPr>
              <a:t>Спрос на натуральные напитки растёт третий год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3008376"/>
            <a:ext cx="10515600" cy="841248"/>
          </a:xfrm>
          <a:prstGeom prst="roundRect">
            <a:avLst>
              <a:gd name="adj" fmla="val 6000"/>
            </a:avLst>
          </a:pr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51560" y="3227832"/>
            <a:ext cx="402336" cy="402336"/>
          </a:xfrm>
          <a:prstGeom prst="ellipse">
            <a:avLst/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98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282696"/>
            <a:ext cx="40233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400" b="1">
                <a:solidFill>
                  <a:srgbClr val="141820"/>
                </a:solidFill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91640" y="3227832"/>
            <a:ext cx="941832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800" b="0">
                <a:solidFill>
                  <a:srgbClr val="F2F4F8"/>
                </a:solidFill>
              </a:rPr>
              <a:t>Классическая газировка теряет лояльность покупателя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4050792"/>
            <a:ext cx="10515600" cy="841248"/>
          </a:xfrm>
          <a:prstGeom prst="roundRect">
            <a:avLst>
              <a:gd name="adj" fmla="val 6000"/>
            </a:avLst>
          </a:pr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1560" y="4270248"/>
            <a:ext cx="402336" cy="402336"/>
          </a:xfrm>
          <a:prstGeom prst="ellipse">
            <a:avLst/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98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1560" y="4325112"/>
            <a:ext cx="40233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400" b="1">
                <a:solidFill>
                  <a:srgbClr val="141820"/>
                </a:solidFill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91640" y="4270248"/>
            <a:ext cx="941832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800" b="0">
                <a:solidFill>
                  <a:srgbClr val="F2F4F8"/>
                </a:solidFill>
              </a:rPr>
              <a:t>Сахарозаменители отпугивают осознанную аудиторию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5093208"/>
            <a:ext cx="10515600" cy="841248"/>
          </a:xfrm>
          <a:prstGeom prst="roundRect">
            <a:avLst>
              <a:gd name="adj" fmla="val 6000"/>
            </a:avLst>
          </a:pr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51560" y="5312664"/>
            <a:ext cx="402336" cy="402336"/>
          </a:xfrm>
          <a:prstGeom prst="ellipse">
            <a:avLst/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98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1560" y="5367528"/>
            <a:ext cx="40233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400" b="1">
                <a:solidFill>
                  <a:srgbClr val="141820"/>
                </a:solidFill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91640" y="5312664"/>
            <a:ext cx="941832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800" b="0">
                <a:solidFill>
                  <a:srgbClr val="F2F4F8"/>
                </a:solidFill>
              </a:rPr>
              <a:t>Полка требует нового качественного игрока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26364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100" b="0">
                <a:solidFill>
                  <a:srgbClr val="9AA4B2"/>
                </a:solidFill>
              </a:rPr>
              <a:t>Лимонады на натуральном составе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26364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100" b="1">
                <a:solidFill>
                  <a:srgbClr val="9AA4B2"/>
                </a:solidFill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8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566928"/>
            <a:ext cx="822960" cy="63500"/>
          </a:xfrm>
          <a:prstGeom prst="roundRect">
            <a:avLst>
              <a:gd name="adj" fmla="val 6000"/>
            </a:avLst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7724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3200" b="1">
                <a:solidFill>
                  <a:srgbClr val="F2F4F8"/>
                </a:solidFill>
              </a:rPr>
              <a:t>Лимонад, состав которого не стыдно читать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965960"/>
            <a:ext cx="10515600" cy="841248"/>
          </a:xfrm>
          <a:prstGeom prst="roundRect">
            <a:avLst>
              <a:gd name="adj" fmla="val 6000"/>
            </a:avLst>
          </a:pr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51560" y="2185416"/>
            <a:ext cx="402336" cy="402336"/>
          </a:xfrm>
          <a:prstGeom prst="ellipse">
            <a:avLst/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98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2240280"/>
            <a:ext cx="40233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400" b="1">
                <a:solidFill>
                  <a:srgbClr val="141820"/>
                </a:solidFill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91640" y="2185416"/>
            <a:ext cx="941832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800" b="0">
                <a:solidFill>
                  <a:srgbClr val="F2F4F8"/>
                </a:solidFill>
              </a:rPr>
              <a:t>Только вода, сахар, сок и натуральные экстракты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3008376"/>
            <a:ext cx="10515600" cy="841248"/>
          </a:xfrm>
          <a:prstGeom prst="roundRect">
            <a:avLst>
              <a:gd name="adj" fmla="val 6000"/>
            </a:avLst>
          </a:pr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51560" y="3227832"/>
            <a:ext cx="402336" cy="402336"/>
          </a:xfrm>
          <a:prstGeom prst="ellipse">
            <a:avLst/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98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282696"/>
            <a:ext cx="40233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400" b="1">
                <a:solidFill>
                  <a:srgbClr val="141820"/>
                </a:solidFill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91640" y="3227832"/>
            <a:ext cx="941832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800" b="0">
                <a:solidFill>
                  <a:srgbClr val="F2F4F8"/>
                </a:solidFill>
              </a:rPr>
              <a:t>Без сахарозаменителей и синтетических ароматизаторов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4050792"/>
            <a:ext cx="10515600" cy="841248"/>
          </a:xfrm>
          <a:prstGeom prst="roundRect">
            <a:avLst>
              <a:gd name="adj" fmla="val 6000"/>
            </a:avLst>
          </a:pr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1560" y="4270248"/>
            <a:ext cx="402336" cy="402336"/>
          </a:xfrm>
          <a:prstGeom prst="ellipse">
            <a:avLst/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98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1560" y="4325112"/>
            <a:ext cx="40233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400" b="1">
                <a:solidFill>
                  <a:srgbClr val="141820"/>
                </a:solidFill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91640" y="4270248"/>
            <a:ext cx="941832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800" b="0">
                <a:solidFill>
                  <a:srgbClr val="F2F4F8"/>
                </a:solidFill>
              </a:rPr>
              <a:t>Вкус узнаваемый, знакомый с детства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5093208"/>
            <a:ext cx="10515600" cy="841248"/>
          </a:xfrm>
          <a:prstGeom prst="roundRect">
            <a:avLst>
              <a:gd name="adj" fmla="val 6000"/>
            </a:avLst>
          </a:pr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51560" y="5312664"/>
            <a:ext cx="402336" cy="402336"/>
          </a:xfrm>
          <a:prstGeom prst="ellipse">
            <a:avLst/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98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1560" y="5367528"/>
            <a:ext cx="40233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400" b="1">
                <a:solidFill>
                  <a:srgbClr val="141820"/>
                </a:solidFill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91640" y="5312664"/>
            <a:ext cx="941832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800" b="0">
                <a:solidFill>
                  <a:srgbClr val="F2F4F8"/>
                </a:solidFill>
              </a:rPr>
              <a:t>Позиционирование премиум, цена среднего сегмента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26364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100" b="0">
                <a:solidFill>
                  <a:srgbClr val="9AA4B2"/>
                </a:solidFill>
              </a:rPr>
              <a:t>Лимонады на натуральном составе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26364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100" b="1">
                <a:solidFill>
                  <a:srgbClr val="9AA4B2"/>
                </a:solidFill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8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566928"/>
            <a:ext cx="822960" cy="63500"/>
          </a:xfrm>
          <a:prstGeom prst="roundRect">
            <a:avLst>
              <a:gd name="adj" fmla="val 6000"/>
            </a:avLst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7724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3200" b="1">
                <a:solidFill>
                  <a:srgbClr val="F2F4F8"/>
                </a:solidFill>
              </a:rPr>
              <a:t>6 вкусов закрывают всю ширину полки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965960"/>
            <a:ext cx="10515600" cy="841248"/>
          </a:xfrm>
          <a:prstGeom prst="roundRect">
            <a:avLst>
              <a:gd name="adj" fmla="val 6000"/>
            </a:avLst>
          </a:pr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51560" y="2185416"/>
            <a:ext cx="402336" cy="402336"/>
          </a:xfrm>
          <a:prstGeom prst="ellipse">
            <a:avLst/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98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2240280"/>
            <a:ext cx="40233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400" b="1">
                <a:solidFill>
                  <a:srgbClr val="141820"/>
                </a:solidFill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91640" y="2185416"/>
            <a:ext cx="941832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800" b="0">
                <a:solidFill>
                  <a:srgbClr val="F2F4F8"/>
                </a:solidFill>
              </a:rPr>
              <a:t>Классика: лимон, лайм-мята, тархун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3008376"/>
            <a:ext cx="10515600" cy="841248"/>
          </a:xfrm>
          <a:prstGeom prst="roundRect">
            <a:avLst>
              <a:gd name="adj" fmla="val 6000"/>
            </a:avLst>
          </a:pr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51560" y="3227832"/>
            <a:ext cx="402336" cy="402336"/>
          </a:xfrm>
          <a:prstGeom prst="ellipse">
            <a:avLst/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98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282696"/>
            <a:ext cx="40233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400" b="1">
                <a:solidFill>
                  <a:srgbClr val="141820"/>
                </a:solidFill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91640" y="3227832"/>
            <a:ext cx="941832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800" b="0">
                <a:solidFill>
                  <a:srgbClr val="F2F4F8"/>
                </a:solidFill>
              </a:rPr>
              <a:t>Ягода: вишня, облепиха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4050792"/>
            <a:ext cx="10515600" cy="841248"/>
          </a:xfrm>
          <a:prstGeom prst="roundRect">
            <a:avLst>
              <a:gd name="adj" fmla="val 6000"/>
            </a:avLst>
          </a:pr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1560" y="4270248"/>
            <a:ext cx="402336" cy="402336"/>
          </a:xfrm>
          <a:prstGeom prst="ellipse">
            <a:avLst/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98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1560" y="4325112"/>
            <a:ext cx="40233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400" b="1">
                <a:solidFill>
                  <a:srgbClr val="141820"/>
                </a:solidFill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91640" y="4270248"/>
            <a:ext cx="941832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800" b="0">
                <a:solidFill>
                  <a:srgbClr val="F2F4F8"/>
                </a:solidFill>
              </a:rPr>
              <a:t>Сезонный хит: груша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5093208"/>
            <a:ext cx="10515600" cy="841248"/>
          </a:xfrm>
          <a:prstGeom prst="roundRect">
            <a:avLst>
              <a:gd name="adj" fmla="val 6000"/>
            </a:avLst>
          </a:pr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51560" y="5312664"/>
            <a:ext cx="402336" cy="402336"/>
          </a:xfrm>
          <a:prstGeom prst="ellipse">
            <a:avLst/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98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1560" y="5367528"/>
            <a:ext cx="40233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400" b="1">
                <a:solidFill>
                  <a:srgbClr val="141820"/>
                </a:solidFill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91640" y="5312664"/>
            <a:ext cx="941832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800" b="0">
                <a:solidFill>
                  <a:srgbClr val="F2F4F8"/>
                </a:solidFill>
              </a:rPr>
              <a:t>Ротация внутри линейки без потери места на полке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26364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100" b="0">
                <a:solidFill>
                  <a:srgbClr val="9AA4B2"/>
                </a:solidFill>
              </a:rPr>
              <a:t>Лимонады на натуральном составе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26364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100" b="1">
                <a:solidFill>
                  <a:srgbClr val="9AA4B2"/>
                </a:solidFill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8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566928"/>
            <a:ext cx="822960" cy="63500"/>
          </a:xfrm>
          <a:prstGeom prst="roundRect">
            <a:avLst>
              <a:gd name="adj" fmla="val 6000"/>
            </a:avLst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7724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3200" b="1">
                <a:solidFill>
                  <a:srgbClr val="F2F4F8"/>
                </a:solidFill>
              </a:rPr>
              <a:t>Два формата под два разных сценария покупки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965960"/>
            <a:ext cx="10515600" cy="841248"/>
          </a:xfrm>
          <a:prstGeom prst="roundRect">
            <a:avLst>
              <a:gd name="adj" fmla="val 6000"/>
            </a:avLst>
          </a:pr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51560" y="2185416"/>
            <a:ext cx="402336" cy="402336"/>
          </a:xfrm>
          <a:prstGeom prst="ellipse">
            <a:avLst/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98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2240280"/>
            <a:ext cx="40233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400" b="1">
                <a:solidFill>
                  <a:srgbClr val="141820"/>
                </a:solidFill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91640" y="2185416"/>
            <a:ext cx="941832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800" b="0">
                <a:solidFill>
                  <a:srgbClr val="F2F4F8"/>
                </a:solidFill>
              </a:rPr>
              <a:t>Стекло 0.33 - импульс, HoReCa, подарок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3008376"/>
            <a:ext cx="10515600" cy="841248"/>
          </a:xfrm>
          <a:prstGeom prst="roundRect">
            <a:avLst>
              <a:gd name="adj" fmla="val 6000"/>
            </a:avLst>
          </a:pr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51560" y="3227832"/>
            <a:ext cx="402336" cy="402336"/>
          </a:xfrm>
          <a:prstGeom prst="ellipse">
            <a:avLst/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98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282696"/>
            <a:ext cx="40233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400" b="1">
                <a:solidFill>
                  <a:srgbClr val="141820"/>
                </a:solidFill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91640" y="3227832"/>
            <a:ext cx="941832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800" b="0">
                <a:solidFill>
                  <a:srgbClr val="F2F4F8"/>
                </a:solidFill>
              </a:rPr>
              <a:t>ПЭТ 1 л - семейная покупка, домашнее потребление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4050792"/>
            <a:ext cx="10515600" cy="841248"/>
          </a:xfrm>
          <a:prstGeom prst="roundRect">
            <a:avLst>
              <a:gd name="adj" fmla="val 6000"/>
            </a:avLst>
          </a:pr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1560" y="4270248"/>
            <a:ext cx="402336" cy="402336"/>
          </a:xfrm>
          <a:prstGeom prst="ellipse">
            <a:avLst/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98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1560" y="4325112"/>
            <a:ext cx="40233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400" b="1">
                <a:solidFill>
                  <a:srgbClr val="141820"/>
                </a:solidFill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91640" y="4270248"/>
            <a:ext cx="941832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800" b="0">
                <a:solidFill>
                  <a:srgbClr val="F2F4F8"/>
                </a:solidFill>
              </a:rPr>
              <a:t>Разные полки, разные чеки, отсутствие каннибализации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5093208"/>
            <a:ext cx="10515600" cy="841248"/>
          </a:xfrm>
          <a:prstGeom prst="roundRect">
            <a:avLst>
              <a:gd name="adj" fmla="val 6000"/>
            </a:avLst>
          </a:pr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51560" y="5312664"/>
            <a:ext cx="402336" cy="402336"/>
          </a:xfrm>
          <a:prstGeom prst="ellipse">
            <a:avLst/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98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1560" y="5367528"/>
            <a:ext cx="40233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400" b="1">
                <a:solidFill>
                  <a:srgbClr val="141820"/>
                </a:solidFill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91640" y="5312664"/>
            <a:ext cx="941832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800" b="0">
                <a:solidFill>
                  <a:srgbClr val="F2F4F8"/>
                </a:solidFill>
              </a:rPr>
              <a:t>Единый бренд-блок узнаётся с трёх метров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26364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100" b="0">
                <a:solidFill>
                  <a:srgbClr val="9AA4B2"/>
                </a:solidFill>
              </a:rPr>
              <a:t>Лимонады на натуральном составе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26364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100" b="1">
                <a:solidFill>
                  <a:srgbClr val="9AA4B2"/>
                </a:solidFill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8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566928"/>
            <a:ext cx="822960" cy="63500"/>
          </a:xfrm>
          <a:prstGeom prst="roundRect">
            <a:avLst>
              <a:gd name="adj" fmla="val 6000"/>
            </a:avLst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7724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3200" b="1">
                <a:solidFill>
                  <a:srgbClr val="F2F4F8"/>
                </a:solidFill>
              </a:rPr>
              <a:t>Цифры, ради которых стоит выделить полку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2286000"/>
            <a:ext cx="2388870" cy="2286000"/>
          </a:xfrm>
          <a:prstGeom prst="roundRect">
            <a:avLst>
              <a:gd name="adj" fmla="val 6000"/>
            </a:avLst>
          </a:pr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560320"/>
            <a:ext cx="184023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3400" b="1">
                <a:solidFill>
                  <a:srgbClr val="4C9AFF"/>
                </a:solidFill>
              </a:rPr>
              <a:t>35% наценка для сети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531870" y="2286000"/>
            <a:ext cx="2388870" cy="2286000"/>
          </a:xfrm>
          <a:prstGeom prst="roundRect">
            <a:avLst>
              <a:gd name="adj" fmla="val 6000"/>
            </a:avLst>
          </a:pr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06190" y="2560320"/>
            <a:ext cx="184023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3400" b="1">
                <a:solidFill>
                  <a:srgbClr val="4C9AFF"/>
                </a:solidFill>
              </a:rPr>
              <a:t>12 дней оборачиваемость в тестовых магазинах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40780" y="2286000"/>
            <a:ext cx="2388870" cy="2286000"/>
          </a:xfrm>
          <a:prstGeom prst="roundRect">
            <a:avLst>
              <a:gd name="adj" fmla="val 6000"/>
            </a:avLst>
          </a:pr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15100" y="2560320"/>
            <a:ext cx="184023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3400" b="1">
                <a:solidFill>
                  <a:srgbClr val="4C9AFF"/>
                </a:solidFill>
              </a:rPr>
              <a:t>9 месяцев срок годности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949690" y="2286000"/>
            <a:ext cx="2388870" cy="2286000"/>
          </a:xfrm>
          <a:prstGeom prst="roundRect">
            <a:avLst>
              <a:gd name="adj" fmla="val 6000"/>
            </a:avLst>
          </a:pr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224010" y="2560320"/>
            <a:ext cx="184023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3400" b="1">
                <a:solidFill>
                  <a:srgbClr val="4C9AFF"/>
                </a:solidFill>
              </a:rPr>
              <a:t>6 SKU в линейке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626364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100" b="0">
                <a:solidFill>
                  <a:srgbClr val="9AA4B2"/>
                </a:solidFill>
              </a:rPr>
              <a:t>Лимонады на натуральном составе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26364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100" b="1">
                <a:solidFill>
                  <a:srgbClr val="9AA4B2"/>
                </a:solidFill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8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566928"/>
            <a:ext cx="822960" cy="63500"/>
          </a:xfrm>
          <a:prstGeom prst="roundRect">
            <a:avLst>
              <a:gd name="adj" fmla="val 6000"/>
            </a:avLst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7724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3200" b="1">
                <a:solidFill>
                  <a:srgbClr val="F2F4F8"/>
                </a:solidFill>
              </a:rPr>
              <a:t>9 месяцев срока годности снимают риск списаний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965960"/>
            <a:ext cx="10515600" cy="841248"/>
          </a:xfrm>
          <a:prstGeom prst="roundRect">
            <a:avLst>
              <a:gd name="adj" fmla="val 6000"/>
            </a:avLst>
          </a:pr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51560" y="2185416"/>
            <a:ext cx="402336" cy="402336"/>
          </a:xfrm>
          <a:prstGeom prst="ellipse">
            <a:avLst/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98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2240280"/>
            <a:ext cx="40233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400" b="1">
                <a:solidFill>
                  <a:srgbClr val="141820"/>
                </a:solidFill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91640" y="2185416"/>
            <a:ext cx="941832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800" b="0">
                <a:solidFill>
                  <a:srgbClr val="F2F4F8"/>
                </a:solidFill>
              </a:rPr>
              <a:t>Натуральный состав без потери стойкости продукта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3008376"/>
            <a:ext cx="10515600" cy="841248"/>
          </a:xfrm>
          <a:prstGeom prst="roundRect">
            <a:avLst>
              <a:gd name="adj" fmla="val 6000"/>
            </a:avLst>
          </a:pr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51560" y="3227832"/>
            <a:ext cx="402336" cy="402336"/>
          </a:xfrm>
          <a:prstGeom prst="ellipse">
            <a:avLst/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98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282696"/>
            <a:ext cx="40233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400" b="1">
                <a:solidFill>
                  <a:srgbClr val="141820"/>
                </a:solidFill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91640" y="3227832"/>
            <a:ext cx="941832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800" b="0">
                <a:solidFill>
                  <a:srgbClr val="F2F4F8"/>
                </a:solidFill>
              </a:rPr>
              <a:t>Запас по сроку на логистику и ротацию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4050792"/>
            <a:ext cx="10515600" cy="841248"/>
          </a:xfrm>
          <a:prstGeom prst="roundRect">
            <a:avLst>
              <a:gd name="adj" fmla="val 6000"/>
            </a:avLst>
          </a:pr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1560" y="4270248"/>
            <a:ext cx="402336" cy="402336"/>
          </a:xfrm>
          <a:prstGeom prst="ellipse">
            <a:avLst/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98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1560" y="4325112"/>
            <a:ext cx="40233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400" b="1">
                <a:solidFill>
                  <a:srgbClr val="141820"/>
                </a:solidFill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91640" y="4270248"/>
            <a:ext cx="941832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800" b="0">
                <a:solidFill>
                  <a:srgbClr val="F2F4F8"/>
                </a:solidFill>
              </a:rPr>
              <a:t>Минимальный процент возвратов на тестах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5093208"/>
            <a:ext cx="10515600" cy="841248"/>
          </a:xfrm>
          <a:prstGeom prst="roundRect">
            <a:avLst>
              <a:gd name="adj" fmla="val 6000"/>
            </a:avLst>
          </a:pr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51560" y="5312664"/>
            <a:ext cx="402336" cy="402336"/>
          </a:xfrm>
          <a:prstGeom prst="ellipse">
            <a:avLst/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98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1560" y="5367528"/>
            <a:ext cx="40233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400" b="1">
                <a:solidFill>
                  <a:srgbClr val="141820"/>
                </a:solidFill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91640" y="5312664"/>
            <a:ext cx="941832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800" b="0">
                <a:solidFill>
                  <a:srgbClr val="F2F4F8"/>
                </a:solidFill>
              </a:rPr>
              <a:t>Отгрузка партиями со свежей датой производства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26364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100" b="0">
                <a:solidFill>
                  <a:srgbClr val="9AA4B2"/>
                </a:solidFill>
              </a:rPr>
              <a:t>Лимонады на натуральном составе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26364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100" b="1">
                <a:solidFill>
                  <a:srgbClr val="9AA4B2"/>
                </a:solidFill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8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566928"/>
            <a:ext cx="822960" cy="63500"/>
          </a:xfrm>
          <a:prstGeom prst="roundRect">
            <a:avLst>
              <a:gd name="adj" fmla="val 6000"/>
            </a:avLst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7724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3200" b="1">
                <a:solidFill>
                  <a:srgbClr val="F2F4F8"/>
                </a:solidFill>
              </a:rPr>
              <a:t>Результаты теста в 18 магазинах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2286000"/>
            <a:ext cx="2388870" cy="2286000"/>
          </a:xfrm>
          <a:prstGeom prst="roundRect">
            <a:avLst>
              <a:gd name="adj" fmla="val 6000"/>
            </a:avLst>
          </a:pr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560320"/>
            <a:ext cx="184023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3400" b="1">
                <a:solidFill>
                  <a:srgbClr val="4C9AFF"/>
                </a:solidFill>
              </a:rPr>
              <a:t>12 дней средняя оборачиваемость SKU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531870" y="2286000"/>
            <a:ext cx="2388870" cy="2286000"/>
          </a:xfrm>
          <a:prstGeom prst="roundRect">
            <a:avLst>
              <a:gd name="adj" fmla="val 6000"/>
            </a:avLst>
          </a:pr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06190" y="2560320"/>
            <a:ext cx="184023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3400" b="1">
                <a:solidFill>
                  <a:srgbClr val="4C9AFF"/>
                </a:solidFill>
              </a:rPr>
              <a:t>+22% к обороту категории лимонадов на полке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40780" y="2286000"/>
            <a:ext cx="2388870" cy="2286000"/>
          </a:xfrm>
          <a:prstGeom prst="roundRect">
            <a:avLst>
              <a:gd name="adj" fmla="val 6000"/>
            </a:avLst>
          </a:pr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15100" y="2560320"/>
            <a:ext cx="184023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3400" b="1">
                <a:solidFill>
                  <a:srgbClr val="4C9AFF"/>
                </a:solidFill>
              </a:rPr>
              <a:t>4 из 6 вкусов вошли в топ-10 категории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949690" y="2286000"/>
            <a:ext cx="2388870" cy="2286000"/>
          </a:xfrm>
          <a:prstGeom prst="roundRect">
            <a:avLst>
              <a:gd name="adj" fmla="val 6000"/>
            </a:avLst>
          </a:pr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224010" y="2560320"/>
            <a:ext cx="184023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3400" b="1">
                <a:solidFill>
                  <a:srgbClr val="4C9AFF"/>
                </a:solidFill>
              </a:rPr>
              <a:t>Менее 1% списаний за квартал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626364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100" b="0">
                <a:solidFill>
                  <a:srgbClr val="9AA4B2"/>
                </a:solidFill>
              </a:rPr>
              <a:t>Лимонады на натуральном составе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26364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100" b="1">
                <a:solidFill>
                  <a:srgbClr val="9AA4B2"/>
                </a:solidFill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8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566928"/>
            <a:ext cx="822960" cy="63500"/>
          </a:xfrm>
          <a:prstGeom prst="roundRect">
            <a:avLst>
              <a:gd name="adj" fmla="val 6000"/>
            </a:avLst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7724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3200" b="1">
                <a:solidFill>
                  <a:srgbClr val="F2F4F8"/>
                </a:solidFill>
              </a:rPr>
              <a:t>Кто покупает наш лимонад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965960"/>
            <a:ext cx="10515600" cy="841248"/>
          </a:xfrm>
          <a:prstGeom prst="roundRect">
            <a:avLst>
              <a:gd name="adj" fmla="val 6000"/>
            </a:avLst>
          </a:pr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51560" y="2185416"/>
            <a:ext cx="402336" cy="402336"/>
          </a:xfrm>
          <a:prstGeom prst="ellipse">
            <a:avLst/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98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2240280"/>
            <a:ext cx="40233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400" b="1">
                <a:solidFill>
                  <a:srgbClr val="141820"/>
                </a:solidFill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91640" y="2185416"/>
            <a:ext cx="941832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800" b="0">
                <a:solidFill>
                  <a:srgbClr val="F2F4F8"/>
                </a:solidFill>
              </a:rPr>
              <a:t>Семьи с детьми, читающие состав на этикетке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3008376"/>
            <a:ext cx="10515600" cy="841248"/>
          </a:xfrm>
          <a:prstGeom prst="roundRect">
            <a:avLst>
              <a:gd name="adj" fmla="val 6000"/>
            </a:avLst>
          </a:pr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51560" y="3227832"/>
            <a:ext cx="402336" cy="402336"/>
          </a:xfrm>
          <a:prstGeom prst="ellipse">
            <a:avLst/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98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282696"/>
            <a:ext cx="40233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400" b="1">
                <a:solidFill>
                  <a:srgbClr val="141820"/>
                </a:solidFill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91640" y="3227832"/>
            <a:ext cx="941832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800" b="0">
                <a:solidFill>
                  <a:srgbClr val="F2F4F8"/>
                </a:solidFill>
              </a:rPr>
              <a:t>Аудитория 25-45 лет, средний и выше доход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4050792"/>
            <a:ext cx="10515600" cy="841248"/>
          </a:xfrm>
          <a:prstGeom prst="roundRect">
            <a:avLst>
              <a:gd name="adj" fmla="val 6000"/>
            </a:avLst>
          </a:pr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1560" y="4270248"/>
            <a:ext cx="402336" cy="402336"/>
          </a:xfrm>
          <a:prstGeom prst="ellipse">
            <a:avLst/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98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1560" y="4325112"/>
            <a:ext cx="40233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400" b="1">
                <a:solidFill>
                  <a:srgbClr val="141820"/>
                </a:solidFill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91640" y="4270248"/>
            <a:ext cx="941832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800" b="0">
                <a:solidFill>
                  <a:srgbClr val="F2F4F8"/>
                </a:solidFill>
              </a:rPr>
              <a:t>Покупатели, ушедшие из категории газировки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5093208"/>
            <a:ext cx="10515600" cy="841248"/>
          </a:xfrm>
          <a:prstGeom prst="roundRect">
            <a:avLst>
              <a:gd name="adj" fmla="val 6000"/>
            </a:avLst>
          </a:pr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51560" y="5312664"/>
            <a:ext cx="402336" cy="402336"/>
          </a:xfrm>
          <a:prstGeom prst="ellipse">
            <a:avLst/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98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1560" y="5367528"/>
            <a:ext cx="40233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400" b="1">
                <a:solidFill>
                  <a:srgbClr val="141820"/>
                </a:solidFill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91640" y="5312664"/>
            <a:ext cx="941832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800" b="0">
                <a:solidFill>
                  <a:srgbClr val="F2F4F8"/>
                </a:solidFill>
              </a:rPr>
              <a:t>Гости кафе и точек фастфуда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26364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100" b="0">
                <a:solidFill>
                  <a:srgbClr val="9AA4B2"/>
                </a:solidFill>
              </a:rPr>
              <a:t>Лимонады на натуральном составе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26364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100" b="1">
                <a:solidFill>
                  <a:srgbClr val="9AA4B2"/>
                </a:solidFill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8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566928"/>
            <a:ext cx="822960" cy="63500"/>
          </a:xfrm>
          <a:prstGeom prst="roundRect">
            <a:avLst>
              <a:gd name="adj" fmla="val 6000"/>
            </a:avLst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7724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3200" b="1">
                <a:solidFill>
                  <a:srgbClr val="F2F4F8"/>
                </a:solidFill>
              </a:rPr>
              <a:t>Мы не отбираем покупателя у ваших СТМ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965960"/>
            <a:ext cx="10515600" cy="841248"/>
          </a:xfrm>
          <a:prstGeom prst="roundRect">
            <a:avLst>
              <a:gd name="adj" fmla="val 6000"/>
            </a:avLst>
          </a:pr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51560" y="2185416"/>
            <a:ext cx="402336" cy="402336"/>
          </a:xfrm>
          <a:prstGeom prst="ellipse">
            <a:avLst/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98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2240280"/>
            <a:ext cx="40233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400" b="1">
                <a:solidFill>
                  <a:srgbClr val="141820"/>
                </a:solidFill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91640" y="2185416"/>
            <a:ext cx="941832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800" b="0">
                <a:solidFill>
                  <a:srgbClr val="F2F4F8"/>
                </a:solidFill>
              </a:rPr>
              <a:t>Ценовой сегмент выше эконом-полки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3008376"/>
            <a:ext cx="10515600" cy="841248"/>
          </a:xfrm>
          <a:prstGeom prst="roundRect">
            <a:avLst>
              <a:gd name="adj" fmla="val 6000"/>
            </a:avLst>
          </a:pr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51560" y="3227832"/>
            <a:ext cx="402336" cy="402336"/>
          </a:xfrm>
          <a:prstGeom prst="ellipse">
            <a:avLst/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98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282696"/>
            <a:ext cx="40233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400" b="1">
                <a:solidFill>
                  <a:srgbClr val="141820"/>
                </a:solidFill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91640" y="3227832"/>
            <a:ext cx="941832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800" b="0">
                <a:solidFill>
                  <a:srgbClr val="F2F4F8"/>
                </a:solidFill>
              </a:rPr>
              <a:t>Прямых аналогов по составу в категории мало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4050792"/>
            <a:ext cx="10515600" cy="841248"/>
          </a:xfrm>
          <a:prstGeom prst="roundRect">
            <a:avLst>
              <a:gd name="adj" fmla="val 6000"/>
            </a:avLst>
          </a:pr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1560" y="4270248"/>
            <a:ext cx="402336" cy="402336"/>
          </a:xfrm>
          <a:prstGeom prst="ellipse">
            <a:avLst/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98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1560" y="4325112"/>
            <a:ext cx="40233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400" b="1">
                <a:solidFill>
                  <a:srgbClr val="141820"/>
                </a:solidFill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91640" y="4270248"/>
            <a:ext cx="941832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800" b="0">
                <a:solidFill>
                  <a:srgbClr val="F2F4F8"/>
                </a:solidFill>
              </a:rPr>
              <a:t>Дополняем ассортимент, а не дублируем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5093208"/>
            <a:ext cx="10515600" cy="841248"/>
          </a:xfrm>
          <a:prstGeom prst="roundRect">
            <a:avLst>
              <a:gd name="adj" fmla="val 6000"/>
            </a:avLst>
          </a:pr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51560" y="5312664"/>
            <a:ext cx="402336" cy="402336"/>
          </a:xfrm>
          <a:prstGeom prst="ellipse">
            <a:avLst/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98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1560" y="5367528"/>
            <a:ext cx="40233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400" b="1">
                <a:solidFill>
                  <a:srgbClr val="141820"/>
                </a:solidFill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91640" y="5312664"/>
            <a:ext cx="941832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800" b="0">
                <a:solidFill>
                  <a:srgbClr val="F2F4F8"/>
                </a:solidFill>
              </a:rPr>
              <a:t>Приводим покупателя из соседних категорий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26364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100" b="0">
                <a:solidFill>
                  <a:srgbClr val="9AA4B2"/>
                </a:solidFill>
              </a:rPr>
              <a:t>Лимонады на натуральном составе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26364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100" b="1">
                <a:solidFill>
                  <a:srgbClr val="9AA4B2"/>
                </a:solidFill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8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566928"/>
            <a:ext cx="822960" cy="63500"/>
          </a:xfrm>
          <a:prstGeom prst="roundRect">
            <a:avLst>
              <a:gd name="adj" fmla="val 6000"/>
            </a:avLst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7724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3200" b="1">
                <a:solidFill>
                  <a:srgbClr val="F2F4F8"/>
                </a:solidFill>
              </a:rPr>
              <a:t>Логистика без сюрпризов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965960"/>
            <a:ext cx="10515600" cy="841248"/>
          </a:xfrm>
          <a:prstGeom prst="roundRect">
            <a:avLst>
              <a:gd name="adj" fmla="val 6000"/>
            </a:avLst>
          </a:pr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51560" y="2185416"/>
            <a:ext cx="402336" cy="402336"/>
          </a:xfrm>
          <a:prstGeom prst="ellipse">
            <a:avLst/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98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2240280"/>
            <a:ext cx="40233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400" b="1">
                <a:solidFill>
                  <a:srgbClr val="141820"/>
                </a:solidFill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91640" y="2185416"/>
            <a:ext cx="941832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800" b="0">
                <a:solidFill>
                  <a:srgbClr val="F2F4F8"/>
                </a:solidFill>
              </a:rPr>
              <a:t>Собственное производство, контроль объёмов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3008376"/>
            <a:ext cx="10515600" cy="841248"/>
          </a:xfrm>
          <a:prstGeom prst="roundRect">
            <a:avLst>
              <a:gd name="adj" fmla="val 6000"/>
            </a:avLst>
          </a:pr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51560" y="3227832"/>
            <a:ext cx="402336" cy="402336"/>
          </a:xfrm>
          <a:prstGeom prst="ellipse">
            <a:avLst/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98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282696"/>
            <a:ext cx="40233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400" b="1">
                <a:solidFill>
                  <a:srgbClr val="141820"/>
                </a:solidFill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91640" y="3227832"/>
            <a:ext cx="941832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800" b="0">
                <a:solidFill>
                  <a:srgbClr val="F2F4F8"/>
                </a:solidFill>
              </a:rPr>
              <a:t>Отгрузка от паллеты, срок поставки 5 дней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4050792"/>
            <a:ext cx="10515600" cy="841248"/>
          </a:xfrm>
          <a:prstGeom prst="roundRect">
            <a:avLst>
              <a:gd name="adj" fmla="val 6000"/>
            </a:avLst>
          </a:pr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1560" y="4270248"/>
            <a:ext cx="402336" cy="402336"/>
          </a:xfrm>
          <a:prstGeom prst="ellipse">
            <a:avLst/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98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1560" y="4325112"/>
            <a:ext cx="40233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400" b="1">
                <a:solidFill>
                  <a:srgbClr val="141820"/>
                </a:solidFill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91640" y="4270248"/>
            <a:ext cx="941832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800" b="0">
                <a:solidFill>
                  <a:srgbClr val="F2F4F8"/>
                </a:solidFill>
              </a:rPr>
              <a:t>Резерв мощностей под сезонный пик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5093208"/>
            <a:ext cx="10515600" cy="841248"/>
          </a:xfrm>
          <a:prstGeom prst="roundRect">
            <a:avLst>
              <a:gd name="adj" fmla="val 6000"/>
            </a:avLst>
          </a:pr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51560" y="5312664"/>
            <a:ext cx="402336" cy="402336"/>
          </a:xfrm>
          <a:prstGeom prst="ellipse">
            <a:avLst/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98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1560" y="5367528"/>
            <a:ext cx="40233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400" b="1">
                <a:solidFill>
                  <a:srgbClr val="141820"/>
                </a:solidFill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91640" y="5312664"/>
            <a:ext cx="941832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800" b="0">
                <a:solidFill>
                  <a:srgbClr val="F2F4F8"/>
                </a:solidFill>
              </a:rPr>
              <a:t>Работа через РЦ или прямые поставки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26364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100" b="0">
                <a:solidFill>
                  <a:srgbClr val="9AA4B2"/>
                </a:solidFill>
              </a:rPr>
              <a:t>Лимонады на натуральном составе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26364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100" b="1">
                <a:solidFill>
                  <a:srgbClr val="9AA4B2"/>
                </a:solidFill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8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566928"/>
            <a:ext cx="822960" cy="63500"/>
          </a:xfrm>
          <a:prstGeom prst="roundRect">
            <a:avLst>
              <a:gd name="adj" fmla="val 6000"/>
            </a:avLst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7724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3200" b="1">
                <a:solidFill>
                  <a:srgbClr val="F2F4F8"/>
                </a:solidFill>
              </a:rPr>
              <a:t>Маркетинг, который мы берём на себя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965960"/>
            <a:ext cx="10515600" cy="841248"/>
          </a:xfrm>
          <a:prstGeom prst="roundRect">
            <a:avLst>
              <a:gd name="adj" fmla="val 6000"/>
            </a:avLst>
          </a:pr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51560" y="2185416"/>
            <a:ext cx="402336" cy="402336"/>
          </a:xfrm>
          <a:prstGeom prst="ellipse">
            <a:avLst/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98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2240280"/>
            <a:ext cx="40233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400" b="1">
                <a:solidFill>
                  <a:srgbClr val="141820"/>
                </a:solidFill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91640" y="2185416"/>
            <a:ext cx="941832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800" b="0">
                <a:solidFill>
                  <a:srgbClr val="F2F4F8"/>
                </a:solidFill>
              </a:rPr>
              <a:t>Дегустации в первый месяц запуска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3008376"/>
            <a:ext cx="10515600" cy="841248"/>
          </a:xfrm>
          <a:prstGeom prst="roundRect">
            <a:avLst>
              <a:gd name="adj" fmla="val 6000"/>
            </a:avLst>
          </a:pr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51560" y="3227832"/>
            <a:ext cx="402336" cy="402336"/>
          </a:xfrm>
          <a:prstGeom prst="ellipse">
            <a:avLst/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98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282696"/>
            <a:ext cx="40233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400" b="1">
                <a:solidFill>
                  <a:srgbClr val="141820"/>
                </a:solidFill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91640" y="3227832"/>
            <a:ext cx="941832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800" b="0">
                <a:solidFill>
                  <a:srgbClr val="F2F4F8"/>
                </a:solidFill>
              </a:rPr>
              <a:t>Промо-поддержка и брендированные POS-материалы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4050792"/>
            <a:ext cx="10515600" cy="841248"/>
          </a:xfrm>
          <a:prstGeom prst="roundRect">
            <a:avLst>
              <a:gd name="adj" fmla="val 6000"/>
            </a:avLst>
          </a:pr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1560" y="4270248"/>
            <a:ext cx="402336" cy="402336"/>
          </a:xfrm>
          <a:prstGeom prst="ellipse">
            <a:avLst/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98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1560" y="4325112"/>
            <a:ext cx="40233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400" b="1">
                <a:solidFill>
                  <a:srgbClr val="141820"/>
                </a:solidFill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91640" y="4270248"/>
            <a:ext cx="941832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800" b="0">
                <a:solidFill>
                  <a:srgbClr val="F2F4F8"/>
                </a:solidFill>
              </a:rPr>
              <a:t>Digital-кампания с гео на города присутствия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5093208"/>
            <a:ext cx="10515600" cy="841248"/>
          </a:xfrm>
          <a:prstGeom prst="roundRect">
            <a:avLst>
              <a:gd name="adj" fmla="val 6000"/>
            </a:avLst>
          </a:pr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51560" y="5312664"/>
            <a:ext cx="402336" cy="402336"/>
          </a:xfrm>
          <a:prstGeom prst="ellipse">
            <a:avLst/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98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1560" y="5367528"/>
            <a:ext cx="40233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400" b="1">
                <a:solidFill>
                  <a:srgbClr val="141820"/>
                </a:solidFill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91640" y="5312664"/>
            <a:ext cx="941832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800" b="0">
                <a:solidFill>
                  <a:srgbClr val="F2F4F8"/>
                </a:solidFill>
              </a:rPr>
              <a:t>Совместные акции под календарь сети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26364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100" b="0">
                <a:solidFill>
                  <a:srgbClr val="9AA4B2"/>
                </a:solidFill>
              </a:rPr>
              <a:t>Лимонады на натуральном составе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26364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100" b="1">
                <a:solidFill>
                  <a:srgbClr val="9AA4B2"/>
                </a:solidFill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8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566928"/>
            <a:ext cx="822960" cy="63500"/>
          </a:xfrm>
          <a:prstGeom prst="roundRect">
            <a:avLst>
              <a:gd name="adj" fmla="val 6000"/>
            </a:avLst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7724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3200" b="1">
                <a:solidFill>
                  <a:srgbClr val="F2F4F8"/>
                </a:solidFill>
              </a:rPr>
              <a:t>Упаковка работает как реклама на полке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965960"/>
            <a:ext cx="10515600" cy="841248"/>
          </a:xfrm>
          <a:prstGeom prst="roundRect">
            <a:avLst>
              <a:gd name="adj" fmla="val 6000"/>
            </a:avLst>
          </a:pr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51560" y="2185416"/>
            <a:ext cx="402336" cy="402336"/>
          </a:xfrm>
          <a:prstGeom prst="ellipse">
            <a:avLst/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98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2240280"/>
            <a:ext cx="40233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400" b="1">
                <a:solidFill>
                  <a:srgbClr val="141820"/>
                </a:solidFill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91640" y="2185416"/>
            <a:ext cx="941832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800" b="0">
                <a:solidFill>
                  <a:srgbClr val="F2F4F8"/>
                </a:solidFill>
              </a:rPr>
              <a:t>Яркий цветовой код по каждому вкусу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3008376"/>
            <a:ext cx="10515600" cy="841248"/>
          </a:xfrm>
          <a:prstGeom prst="roundRect">
            <a:avLst>
              <a:gd name="adj" fmla="val 6000"/>
            </a:avLst>
          </a:pr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51560" y="3227832"/>
            <a:ext cx="402336" cy="402336"/>
          </a:xfrm>
          <a:prstGeom prst="ellipse">
            <a:avLst/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98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282696"/>
            <a:ext cx="40233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400" b="1">
                <a:solidFill>
                  <a:srgbClr val="141820"/>
                </a:solidFill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91640" y="3227832"/>
            <a:ext cx="941832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800" b="0">
                <a:solidFill>
                  <a:srgbClr val="F2F4F8"/>
                </a:solidFill>
              </a:rPr>
              <a:t>Состав вынесен на лицевую сторону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4050792"/>
            <a:ext cx="10515600" cy="841248"/>
          </a:xfrm>
          <a:prstGeom prst="roundRect">
            <a:avLst>
              <a:gd name="adj" fmla="val 6000"/>
            </a:avLst>
          </a:pr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1560" y="4270248"/>
            <a:ext cx="402336" cy="402336"/>
          </a:xfrm>
          <a:prstGeom prst="ellipse">
            <a:avLst/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98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1560" y="4325112"/>
            <a:ext cx="40233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400" b="1">
                <a:solidFill>
                  <a:srgbClr val="141820"/>
                </a:solidFill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91640" y="4270248"/>
            <a:ext cx="941832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800" b="0">
                <a:solidFill>
                  <a:srgbClr val="F2F4F8"/>
                </a:solidFill>
              </a:rPr>
              <a:t>Стекло 0.33 выглядит дороже своей цены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5093208"/>
            <a:ext cx="10515600" cy="841248"/>
          </a:xfrm>
          <a:prstGeom prst="roundRect">
            <a:avLst>
              <a:gd name="adj" fmla="val 6000"/>
            </a:avLst>
          </a:pr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51560" y="5312664"/>
            <a:ext cx="402336" cy="402336"/>
          </a:xfrm>
          <a:prstGeom prst="ellipse">
            <a:avLst/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98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1560" y="5367528"/>
            <a:ext cx="40233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400" b="1">
                <a:solidFill>
                  <a:srgbClr val="141820"/>
                </a:solidFill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91640" y="5312664"/>
            <a:ext cx="941832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800" b="0">
                <a:solidFill>
                  <a:srgbClr val="F2F4F8"/>
                </a:solidFill>
              </a:rPr>
              <a:t>Тестировали дизайн на фокус-группах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26364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100" b="0">
                <a:solidFill>
                  <a:srgbClr val="9AA4B2"/>
                </a:solidFill>
              </a:rPr>
              <a:t>Лимонады на натуральном составе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26364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100" b="1">
                <a:solidFill>
                  <a:srgbClr val="9AA4B2"/>
                </a:solidFill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8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566928"/>
            <a:ext cx="822960" cy="63500"/>
          </a:xfrm>
          <a:prstGeom prst="roundRect">
            <a:avLst>
              <a:gd name="adj" fmla="val 6000"/>
            </a:avLst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7724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3200" b="1">
                <a:solidFill>
                  <a:srgbClr val="F2F4F8"/>
                </a:solidFill>
              </a:rPr>
              <a:t>Экономика полки в цифрах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2286000"/>
            <a:ext cx="2388870" cy="2286000"/>
          </a:xfrm>
          <a:prstGeom prst="roundRect">
            <a:avLst>
              <a:gd name="adj" fmla="val 6000"/>
            </a:avLst>
          </a:pr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560320"/>
            <a:ext cx="184023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3400" b="1">
                <a:solidFill>
                  <a:srgbClr val="4C9AFF"/>
                </a:solidFill>
              </a:rPr>
              <a:t>35% наценка сети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531870" y="2286000"/>
            <a:ext cx="2388870" cy="2286000"/>
          </a:xfrm>
          <a:prstGeom prst="roundRect">
            <a:avLst>
              <a:gd name="adj" fmla="val 6000"/>
            </a:avLst>
          </a:pr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06190" y="2560320"/>
            <a:ext cx="184023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3400" b="1">
                <a:solidFill>
                  <a:srgbClr val="4C9AFF"/>
                </a:solidFill>
              </a:rPr>
              <a:t>30 упаковок минимальная партия отгрузки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40780" y="2286000"/>
            <a:ext cx="2388870" cy="2286000"/>
          </a:xfrm>
          <a:prstGeom prst="roundRect">
            <a:avLst>
              <a:gd name="adj" fmla="val 6000"/>
            </a:avLst>
          </a:pr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15100" y="2560320"/>
            <a:ext cx="184023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3400" b="1">
                <a:solidFill>
                  <a:srgbClr val="4C9AFF"/>
                </a:solidFill>
              </a:rPr>
              <a:t>6 SKU на 1 полкометр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949690" y="2286000"/>
            <a:ext cx="2388870" cy="2286000"/>
          </a:xfrm>
          <a:prstGeom prst="roundRect">
            <a:avLst>
              <a:gd name="adj" fmla="val 6000"/>
            </a:avLst>
          </a:pr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224010" y="2560320"/>
            <a:ext cx="184023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3400" b="1">
                <a:solidFill>
                  <a:srgbClr val="4C9AFF"/>
                </a:solidFill>
              </a:rPr>
              <a:t>5 дней срок поставки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626364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100" b="0">
                <a:solidFill>
                  <a:srgbClr val="9AA4B2"/>
                </a:solidFill>
              </a:rPr>
              <a:t>Лимонады на натуральном составе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26364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100" b="1">
                <a:solidFill>
                  <a:srgbClr val="9AA4B2"/>
                </a:solidFill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8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566928"/>
            <a:ext cx="822960" cy="63500"/>
          </a:xfrm>
          <a:prstGeom prst="roundRect">
            <a:avLst>
              <a:gd name="adj" fmla="val 6000"/>
            </a:avLst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7724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3200" b="1">
                <a:solidFill>
                  <a:srgbClr val="F2F4F8"/>
                </a:solidFill>
              </a:rPr>
              <a:t>Три шага до первой отгрузки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965960"/>
            <a:ext cx="10515600" cy="841248"/>
          </a:xfrm>
          <a:prstGeom prst="roundRect">
            <a:avLst>
              <a:gd name="adj" fmla="val 6000"/>
            </a:avLst>
          </a:pr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51560" y="2185416"/>
            <a:ext cx="402336" cy="402336"/>
          </a:xfrm>
          <a:prstGeom prst="ellipse">
            <a:avLst/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98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2240280"/>
            <a:ext cx="40233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400" b="1">
                <a:solidFill>
                  <a:srgbClr val="141820"/>
                </a:solidFill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91640" y="2185416"/>
            <a:ext cx="941832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800" b="0">
                <a:solidFill>
                  <a:srgbClr val="F2F4F8"/>
                </a:solidFill>
              </a:rPr>
              <a:t>Запрос образцов - отправим в течение 3 дней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3008376"/>
            <a:ext cx="10515600" cy="841248"/>
          </a:xfrm>
          <a:prstGeom prst="roundRect">
            <a:avLst>
              <a:gd name="adj" fmla="val 6000"/>
            </a:avLst>
          </a:pr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51560" y="3227832"/>
            <a:ext cx="402336" cy="402336"/>
          </a:xfrm>
          <a:prstGeom prst="ellipse">
            <a:avLst/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98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282696"/>
            <a:ext cx="40233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400" b="1">
                <a:solidFill>
                  <a:srgbClr val="141820"/>
                </a:solidFill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91640" y="3227832"/>
            <a:ext cx="941832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800" b="0">
                <a:solidFill>
                  <a:srgbClr val="F2F4F8"/>
                </a:solidFill>
              </a:rPr>
              <a:t>Согласование условий и матрицы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4050792"/>
            <a:ext cx="10515600" cy="841248"/>
          </a:xfrm>
          <a:prstGeom prst="roundRect">
            <a:avLst>
              <a:gd name="adj" fmla="val 6000"/>
            </a:avLst>
          </a:pr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1560" y="4270248"/>
            <a:ext cx="402336" cy="402336"/>
          </a:xfrm>
          <a:prstGeom prst="ellipse">
            <a:avLst/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98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1560" y="4325112"/>
            <a:ext cx="40233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400" b="1">
                <a:solidFill>
                  <a:srgbClr val="141820"/>
                </a:solidFill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91640" y="4270248"/>
            <a:ext cx="941832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800" b="0">
                <a:solidFill>
                  <a:srgbClr val="F2F4F8"/>
                </a:solidFill>
              </a:rPr>
              <a:t>Тестовый запуск в 10-20 магазинах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5093208"/>
            <a:ext cx="10515600" cy="841248"/>
          </a:xfrm>
          <a:prstGeom prst="roundRect">
            <a:avLst>
              <a:gd name="adj" fmla="val 6000"/>
            </a:avLst>
          </a:pr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51560" y="5312664"/>
            <a:ext cx="402336" cy="402336"/>
          </a:xfrm>
          <a:prstGeom prst="ellipse">
            <a:avLst/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98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1560" y="5367528"/>
            <a:ext cx="40233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400" b="1">
                <a:solidFill>
                  <a:srgbClr val="141820"/>
                </a:solidFill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91640" y="5312664"/>
            <a:ext cx="941832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800" b="0">
                <a:solidFill>
                  <a:srgbClr val="F2F4F8"/>
                </a:solidFill>
              </a:rPr>
              <a:t>Расширение на сеть по результатам теста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26364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100" b="0">
                <a:solidFill>
                  <a:srgbClr val="9AA4B2"/>
                </a:solidFill>
              </a:rPr>
              <a:t>Лимонады на натуральном составе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26364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100" b="1">
                <a:solidFill>
                  <a:srgbClr val="9AA4B2"/>
                </a:solidFill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8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566928"/>
            <a:ext cx="822960" cy="63500"/>
          </a:xfrm>
          <a:prstGeom prst="roundRect">
            <a:avLst>
              <a:gd name="adj" fmla="val 6000"/>
            </a:avLst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7724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3200" b="1">
                <a:solidFill>
                  <a:srgbClr val="F2F4F8"/>
                </a:solidFill>
              </a:rPr>
              <a:t>Давайте начнём с образцов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965960"/>
            <a:ext cx="10515600" cy="841248"/>
          </a:xfrm>
          <a:prstGeom prst="roundRect">
            <a:avLst>
              <a:gd name="adj" fmla="val 6000"/>
            </a:avLst>
          </a:pr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51560" y="2185416"/>
            <a:ext cx="402336" cy="402336"/>
          </a:xfrm>
          <a:prstGeom prst="ellipse">
            <a:avLst/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98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2240280"/>
            <a:ext cx="40233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400" b="1">
                <a:solidFill>
                  <a:srgbClr val="141820"/>
                </a:solidFill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91640" y="2185416"/>
            <a:ext cx="941832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800" b="0">
                <a:solidFill>
                  <a:srgbClr val="F2F4F8"/>
                </a:solidFill>
              </a:rPr>
              <a:t>Пришлём полную линейку из 6 вкусов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3008376"/>
            <a:ext cx="10515600" cy="841248"/>
          </a:xfrm>
          <a:prstGeom prst="roundRect">
            <a:avLst>
              <a:gd name="adj" fmla="val 6000"/>
            </a:avLst>
          </a:pr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51560" y="3227832"/>
            <a:ext cx="402336" cy="402336"/>
          </a:xfrm>
          <a:prstGeom prst="ellipse">
            <a:avLst/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98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282696"/>
            <a:ext cx="40233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400" b="1">
                <a:solidFill>
                  <a:srgbClr val="141820"/>
                </a:solidFill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91640" y="3227832"/>
            <a:ext cx="941832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800" b="0">
                <a:solidFill>
                  <a:srgbClr val="F2F4F8"/>
                </a:solidFill>
              </a:rPr>
              <a:t>Подготовим расчёт под вашу матрицу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4050792"/>
            <a:ext cx="10515600" cy="841248"/>
          </a:xfrm>
          <a:prstGeom prst="roundRect">
            <a:avLst>
              <a:gd name="adj" fmla="val 6000"/>
            </a:avLst>
          </a:pr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1560" y="4270248"/>
            <a:ext cx="402336" cy="402336"/>
          </a:xfrm>
          <a:prstGeom prst="ellipse">
            <a:avLst/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98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1560" y="4325112"/>
            <a:ext cx="40233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400" b="1">
                <a:solidFill>
                  <a:srgbClr val="141820"/>
                </a:solidFill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91640" y="4270248"/>
            <a:ext cx="941832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800" b="0">
                <a:solidFill>
                  <a:srgbClr val="F2F4F8"/>
                </a:solidFill>
              </a:rPr>
              <a:t>Обсудим условия и сроки старта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5093208"/>
            <a:ext cx="10515600" cy="841248"/>
          </a:xfrm>
          <a:prstGeom prst="roundRect">
            <a:avLst>
              <a:gd name="adj" fmla="val 6000"/>
            </a:avLst>
          </a:pr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51560" y="5312664"/>
            <a:ext cx="402336" cy="402336"/>
          </a:xfrm>
          <a:prstGeom prst="ellipse">
            <a:avLst/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98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1560" y="5367528"/>
            <a:ext cx="40233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400" b="1">
                <a:solidFill>
                  <a:srgbClr val="141820"/>
                </a:solidFill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91640" y="5312664"/>
            <a:ext cx="941832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800" b="0">
                <a:solidFill>
                  <a:srgbClr val="F2F4F8"/>
                </a:solidFill>
              </a:rPr>
              <a:t>Контакты и коммерческое предложение внутри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26364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100" b="0">
                <a:solidFill>
                  <a:srgbClr val="9AA4B2"/>
                </a:solidFill>
              </a:rPr>
              <a:t>Лимонады на натуральном составе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26364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100" b="1">
                <a:solidFill>
                  <a:srgbClr val="9AA4B2"/>
                </a:solidFill>
              </a:rPr>
              <a:t>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