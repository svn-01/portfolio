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Начинаю с рынка: покупатель не отказался от лимонада, он отказался от плохого состава. Это и есть наша ниша.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Объясняю концепцию бренда одной фразой: честный состав по доступной цене. Это ключ ко всей презентации.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линейку: три классических вкуса дают оборот, три ягодных - маржу и интерес.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Подчёркиваю, что форматы не конкурируют между собой, а работают на разные корзины.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главный слайд переговоров. Даю паузу после цифр - пусть закупщик их посчитает 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Отрабатываю главное возражение: натуральное не значит короткий срок и списания.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не обещания, а факт продаж. Готов показать выгрузку по каждому магазину.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Показываю, что наш покупатель уже ходит в их сеть и тратит выше среднего чека.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Снимаю опасение закупщика о каннибализации собственных марок.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подтверждаю, что мы выдержим объёмы федеральной 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не оставляем товар на полке в одиночестве, бюджет на поддержку заложен.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Показываю физические образцы упаковки, даю подержать в руках.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Считаю вместе с закупщиком доход с полкометра - именно эта цифра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Даю понятный и необременительный путь входа - начинаем с теста, а не с федеральной матрицы.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Закрываю на конкретное действие: договориться о дате отправки образцов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-548640"/>
            <a:ext cx="6035040" cy="603504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2148840"/>
            <a:ext cx="1371600" cy="762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</a:pPr>
            <a:r>
              <a:rPr sz="4600" b="1">
                <a:solidFill>
                  <a:srgbClr val="F2F4F8"/>
                </a:solidFill>
              </a:rPr>
              <a:t>Лимонады на натуральном составе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2000" b="0">
                <a:solidFill>
                  <a:srgbClr val="9AA4B2"/>
                </a:solidFill>
              </a:rPr>
              <a:t>Предложение для торговых сетей и дистрибьюторов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Покупатель ушёл от сладкой газировки, но не от вкуса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Спрос на натуральные напитки растёт третий год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Классическая газировка теряет лояльность покупателя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Сахарозаменители отпугивают осознанную аудиторию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Полка требует нового качественного игрока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Лимонад, состав которого не стыдно читать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Только вода, сахар, сок и натуральные экстракты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Без сахарозаменителей и синтетических ароматизаторов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Вкус узнаваемый, знакомый с детства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Позиционирование премиум, цена среднего сегмента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6 вкусов закрывают всю ширину полки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Классика: лимон, лайм-мята, тархун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Ягода: вишня, облепиха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Сезонный хит: груша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Ротация внутри линейки без потери места на полке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Два формата под два разных сценария покупки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0.33 - импульс, HoReCa, подарок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ПЭТ 1 л - семейная покупка, домашнее потребление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Разные полки, разные чеки, отсутствие каннибализации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Единый бренд-блок узнаётся с трёх метров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Цифры, ради которых стоит выделить полку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для сети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оборачиваемость в тестовых магазинах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9 месяцев срок годности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в линейке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9 месяцев срока годности снимают риск списаний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Натуральный состав без потери стойкости продукта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Запас по сроку на логистику и ротацию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Минимальный процент возвратов на тестах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партиями со свежей датой производства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Результаты теста в 18 магазинах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12 дней средняя оборачиваемость SKU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+22% к обороту категории лимонадов на полке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4 из 6 вкусов вошли в топ-10 категории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Менее 1% списаний за квартал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Кто покупает наш лимонад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Семьи с детьми, читающие состав на этикетке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Аудитория 25-45 лет, средний и выше доход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Покупатели, ушедшие из категории газировки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Гости кафе и точек фастфуда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Мы не отбираем покупателя у ваших СТМ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Ценовой сегмент выше эконом-полки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Прямых аналогов по составу в категории мало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Дополняем ассортимент, а не дублируем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Приводим покупателя из соседних категорий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Логистика без сюрпризов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Собственное производство, контроль объёмов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Отгрузка от паллеты, срок поставки 5 дней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Резерв мощностей под сезонный пик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Работа через РЦ или прямые поставки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Маркетинг, который мы берём на себя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Дегустации в первый месяц запуска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Промо-поддержка и брендированные POS-материалы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Digital-кампания с гео на города присутствия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Совместные акции под календарь сети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Упаковка работает как реклама на полке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Яркий цветовой код по каждому вкусу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Состав вынесен на лицевую сторону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Стекло 0.33 выглядит дороже своей цены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Тестировали дизайн на фокус-группах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Экономика полки в цифрах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35% наценка сети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3187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0619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30 упаковок минимальная партия отгрузки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078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6 SKU на 1 полкометр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90" y="2286000"/>
            <a:ext cx="2388870" cy="2286000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24010" y="2560320"/>
            <a:ext cx="184023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3400" b="1">
                <a:solidFill>
                  <a:srgbClr val="4C9AFF"/>
                </a:solidFill>
              </a:rPr>
              <a:t>5 дней срок поставки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Три шага до первой отгрузки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Запрос образцов - отправим в течение 3 дней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Согласование условий и матрицы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Тестовый запуск в 10-20 магазинах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Расширение на сеть по результатам теста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3657600"/>
            <a:ext cx="4023360" cy="402336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2960" y="566928"/>
            <a:ext cx="822960" cy="6350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772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3200" b="1">
                <a:solidFill>
                  <a:srgbClr val="F2F4F8"/>
                </a:solidFill>
              </a:rPr>
              <a:t>Давайте начнём с образцов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51560" y="2185416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85416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Пришлём полную линейку из 6 вкусов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008376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3227832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8269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27832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Подготовим расчёт под вашу матрицу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50792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51560" y="4270248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2511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270248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Обсудим условия и сроки старта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93208"/>
            <a:ext cx="8229600" cy="841248"/>
          </a:xfrm>
          <a:prstGeom prst="roundRect">
            <a:avLst>
              <a:gd name="adj" fmla="val 6000"/>
            </a:avLst>
          </a:prstGeom>
          <a:solidFill>
            <a:srgbClr val="1E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51560" y="5312664"/>
            <a:ext cx="402336" cy="402336"/>
          </a:xfrm>
          <a:prstGeom prst="ellipse">
            <a:avLst/>
          </a:prstGeom>
          <a:gradFill rotWithShape="1">
            <a:gsLst>
              <a:gs pos="0">
                <a:srgbClr val="4C9AFF"/>
              </a:gs>
              <a:gs pos="100000">
                <a:srgbClr val="7B61FF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6752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400" b="1">
                <a:solidFill>
                  <a:srgbClr val="141820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312664"/>
            <a:ext cx="7132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800" b="0">
                <a:solidFill>
                  <a:srgbClr val="F2F4F8"/>
                </a:solidFill>
              </a:rPr>
              <a:t>Контакты и коммерческое предложение внутри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263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0">
                <a:solidFill>
                  <a:srgbClr val="9AA4B2"/>
                </a:solidFill>
              </a:rPr>
              <a:t>Лимонады на натуральном составе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26364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9AA4B2"/>
                </a:solidFill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6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